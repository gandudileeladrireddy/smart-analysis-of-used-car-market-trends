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60" r:id="rId4"/>
    <p:sldId id="261" r:id="rId5"/>
    <p:sldId id="262" r:id="rId6"/>
    <p:sldId id="263" r:id="rId7"/>
    <p:sldId id="264" r:id="rId8"/>
    <p:sldId id="266" r:id="rId9"/>
    <p:sldId id="265" r:id="rId10"/>
    <p:sldId id="277" r:id="rId11"/>
    <p:sldId id="271" r:id="rId12"/>
    <p:sldId id="278" r:id="rId13"/>
    <p:sldId id="279" r:id="rId14"/>
    <p:sldId id="280" r:id="rId15"/>
    <p:sldId id="272" r:id="rId16"/>
    <p:sldId id="282" r:id="rId17"/>
    <p:sldId id="281" r:id="rId18"/>
    <p:sldId id="267" r:id="rId19"/>
    <p:sldId id="274" r:id="rId20"/>
    <p:sldId id="275" r:id="rId21"/>
    <p:sldId id="276" r:id="rId22"/>
    <p:sldId id="268" r:id="rId23"/>
    <p:sldId id="270" r:id="rId24"/>
    <p:sldId id="269" r:id="rId25"/>
    <p:sldId id="259" r:id="rId26"/>
  </p:sldIdLst>
  <p:sldSz cx="12192000" cy="6858000"/>
  <p:notesSz cx="6858000" cy="9144000"/>
  <p:embeddedFontLst>
    <p:embeddedFont>
      <p:font typeface="Lato Black" panose="020F0502020204030203" pitchFamily="34" charset="0"/>
      <p:bold r:id="rId28"/>
      <p:boldItalic r:id="rId29"/>
    </p:embeddedFont>
    <p:embeddedFont>
      <p:font typeface="Libre Baskerville" panose="02000000000000000000" pitchFamily="2" charset="0"/>
      <p:regular r:id="rId30"/>
      <p:bold r:id="rId31"/>
      <p: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F41344-8EE8-48CB-B6F7-439710874B94}" v="272" dt="2026-01-31T08:39:29.044"/>
  </p1510:revLst>
</p1510:revInfo>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eladri Reddy G" userId="11febdb7c19a1921" providerId="LiveId" clId="{96483A34-93B2-4607-82FB-68B517D65B3A}"/>
    <pc:docChg chg="undo custSel addSld delSld modSld sldOrd">
      <pc:chgData name="Leeladri Reddy G" userId="11febdb7c19a1921" providerId="LiveId" clId="{96483A34-93B2-4607-82FB-68B517D65B3A}" dt="2026-01-31T10:24:53.156" v="2108" actId="1076"/>
      <pc:docMkLst>
        <pc:docMk/>
      </pc:docMkLst>
      <pc:sldChg chg="addSp modSp mod">
        <pc:chgData name="Leeladri Reddy G" userId="11febdb7c19a1921" providerId="LiveId" clId="{96483A34-93B2-4607-82FB-68B517D65B3A}" dt="2026-01-31T04:40:46.310" v="1868" actId="255"/>
        <pc:sldMkLst>
          <pc:docMk/>
          <pc:sldMk cId="0" sldId="256"/>
        </pc:sldMkLst>
        <pc:spChg chg="add mod">
          <ac:chgData name="Leeladri Reddy G" userId="11febdb7c19a1921" providerId="LiveId" clId="{96483A34-93B2-4607-82FB-68B517D65B3A}" dt="2026-01-31T04:40:46.310" v="1868" actId="255"/>
          <ac:spMkLst>
            <pc:docMk/>
            <pc:sldMk cId="0" sldId="256"/>
            <ac:spMk id="2" creationId="{337ACD43-2242-952C-86B5-96795113BDEF}"/>
          </ac:spMkLst>
        </pc:spChg>
        <pc:spChg chg="add mod">
          <ac:chgData name="Leeladri Reddy G" userId="11febdb7c19a1921" providerId="LiveId" clId="{96483A34-93B2-4607-82FB-68B517D65B3A}" dt="2026-01-27T14:55:25.452" v="457" actId="14100"/>
          <ac:spMkLst>
            <pc:docMk/>
            <pc:sldMk cId="0" sldId="256"/>
            <ac:spMk id="4" creationId="{41149368-D0DC-3898-0C25-8379F2FEB715}"/>
          </ac:spMkLst>
        </pc:spChg>
        <pc:spChg chg="mod">
          <ac:chgData name="Leeladri Reddy G" userId="11febdb7c19a1921" providerId="LiveId" clId="{96483A34-93B2-4607-82FB-68B517D65B3A}" dt="2026-01-27T14:53:56.621" v="444" actId="20577"/>
          <ac:spMkLst>
            <pc:docMk/>
            <pc:sldMk cId="0" sldId="256"/>
            <ac:spMk id="99" creationId="{00000000-0000-0000-0000-000000000000}"/>
          </ac:spMkLst>
        </pc:spChg>
        <pc:picChg chg="mod">
          <ac:chgData name="Leeladri Reddy G" userId="11febdb7c19a1921" providerId="LiveId" clId="{96483A34-93B2-4607-82FB-68B517D65B3A}" dt="2026-01-26T06:42:06.115" v="10" actId="14100"/>
          <ac:picMkLst>
            <pc:docMk/>
            <pc:sldMk cId="0" sldId="256"/>
            <ac:picMk id="98" creationId="{00000000-0000-0000-0000-000000000000}"/>
          </ac:picMkLst>
        </pc:picChg>
      </pc:sldChg>
      <pc:sldChg chg="addSp delSp modSp mod">
        <pc:chgData name="Leeladri Reddy G" userId="11febdb7c19a1921" providerId="LiveId" clId="{96483A34-93B2-4607-82FB-68B517D65B3A}" dt="2026-01-26T06:55:43.799" v="130"/>
        <pc:sldMkLst>
          <pc:docMk/>
          <pc:sldMk cId="0" sldId="257"/>
        </pc:sldMkLst>
        <pc:spChg chg="add mod">
          <ac:chgData name="Leeladri Reddy G" userId="11febdb7c19a1921" providerId="LiveId" clId="{96483A34-93B2-4607-82FB-68B517D65B3A}" dt="2026-01-26T06:54:54.641" v="124" actId="20577"/>
          <ac:spMkLst>
            <pc:docMk/>
            <pc:sldMk cId="0" sldId="257"/>
            <ac:spMk id="2" creationId="{810F6187-F3BB-C72F-36AE-9BB73DF49DFB}"/>
          </ac:spMkLst>
        </pc:spChg>
        <pc:spChg chg="mod">
          <ac:chgData name="Leeladri Reddy G" userId="11febdb7c19a1921" providerId="LiveId" clId="{96483A34-93B2-4607-82FB-68B517D65B3A}" dt="2026-01-26T06:53:04.742" v="108" actId="255"/>
          <ac:spMkLst>
            <pc:docMk/>
            <pc:sldMk cId="0" sldId="257"/>
            <ac:spMk id="105" creationId="{00000000-0000-0000-0000-000000000000}"/>
          </ac:spMkLst>
        </pc:spChg>
      </pc:sldChg>
      <pc:sldChg chg="modSp mod">
        <pc:chgData name="Leeladri Reddy G" userId="11febdb7c19a1921" providerId="LiveId" clId="{96483A34-93B2-4607-82FB-68B517D65B3A}" dt="2026-01-28T16:10:30.930" v="1846" actId="14100"/>
        <pc:sldMkLst>
          <pc:docMk/>
          <pc:sldMk cId="0" sldId="259"/>
        </pc:sldMkLst>
        <pc:spChg chg="mod">
          <ac:chgData name="Leeladri Reddy G" userId="11febdb7c19a1921" providerId="LiveId" clId="{96483A34-93B2-4607-82FB-68B517D65B3A}" dt="2026-01-28T16:10:30.930" v="1846" actId="14100"/>
          <ac:spMkLst>
            <pc:docMk/>
            <pc:sldMk cId="0" sldId="259"/>
            <ac:spMk id="117" creationId="{00000000-0000-0000-0000-000000000000}"/>
          </ac:spMkLst>
        </pc:spChg>
      </pc:sldChg>
      <pc:sldChg chg="modSp add mod">
        <pc:chgData name="Leeladri Reddy G" userId="11febdb7c19a1921" providerId="LiveId" clId="{96483A34-93B2-4607-82FB-68B517D65B3A}" dt="2026-01-27T14:58:35.057" v="506" actId="2711"/>
        <pc:sldMkLst>
          <pc:docMk/>
          <pc:sldMk cId="2484140243" sldId="260"/>
        </pc:sldMkLst>
        <pc:spChg chg="mod">
          <ac:chgData name="Leeladri Reddy G" userId="11febdb7c19a1921" providerId="LiveId" clId="{96483A34-93B2-4607-82FB-68B517D65B3A}" dt="2026-01-27T14:58:35.057" v="506" actId="2711"/>
          <ac:spMkLst>
            <pc:docMk/>
            <pc:sldMk cId="2484140243" sldId="260"/>
            <ac:spMk id="2" creationId="{6B000A77-693E-CCCC-F3D8-520F5EACBBD6}"/>
          </ac:spMkLst>
        </pc:spChg>
        <pc:spChg chg="mod">
          <ac:chgData name="Leeladri Reddy G" userId="11febdb7c19a1921" providerId="LiveId" clId="{96483A34-93B2-4607-82FB-68B517D65B3A}" dt="2026-01-26T06:56:48.175" v="153" actId="20577"/>
          <ac:spMkLst>
            <pc:docMk/>
            <pc:sldMk cId="2484140243" sldId="260"/>
            <ac:spMk id="105" creationId="{4E16DEF0-B5F5-A6A9-8BE8-B3B742C886DF}"/>
          </ac:spMkLst>
        </pc:spChg>
      </pc:sldChg>
      <pc:sldChg chg="addSp delSp modSp new mod">
        <pc:chgData name="Leeladri Reddy G" userId="11febdb7c19a1921" providerId="LiveId" clId="{96483A34-93B2-4607-82FB-68B517D65B3A}" dt="2026-01-31T10:24:53.156" v="2108" actId="1076"/>
        <pc:sldMkLst>
          <pc:docMk/>
          <pc:sldMk cId="406739650" sldId="261"/>
        </pc:sldMkLst>
        <pc:spChg chg="add mod">
          <ac:chgData name="Leeladri Reddy G" userId="11febdb7c19a1921" providerId="LiveId" clId="{96483A34-93B2-4607-82FB-68B517D65B3A}" dt="2026-01-31T10:24:27.194" v="2105" actId="1076"/>
          <ac:spMkLst>
            <pc:docMk/>
            <pc:sldMk cId="406739650" sldId="261"/>
            <ac:spMk id="2" creationId="{FA6BB1CD-AC9C-F99F-FEAA-EDBA314DFDC1}"/>
          </ac:spMkLst>
        </pc:spChg>
        <pc:spChg chg="add mod">
          <ac:chgData name="Leeladri Reddy G" userId="11febdb7c19a1921" providerId="LiveId" clId="{96483A34-93B2-4607-82FB-68B517D65B3A}" dt="2026-01-31T10:24:53.156" v="2108" actId="1076"/>
          <ac:spMkLst>
            <pc:docMk/>
            <pc:sldMk cId="406739650" sldId="261"/>
            <ac:spMk id="7" creationId="{D7102538-87F2-F54E-9C8E-F2F67F96F2AD}"/>
          </ac:spMkLst>
        </pc:spChg>
        <pc:picChg chg="add mod">
          <ac:chgData name="Leeladri Reddy G" userId="11febdb7c19a1921" providerId="LiveId" clId="{96483A34-93B2-4607-82FB-68B517D65B3A}" dt="2026-01-31T10:24:35.384" v="2107" actId="14100"/>
          <ac:picMkLst>
            <pc:docMk/>
            <pc:sldMk cId="406739650" sldId="261"/>
            <ac:picMk id="4" creationId="{0032F1E1-A257-F1A4-D28F-E0AA29C439F3}"/>
          </ac:picMkLst>
        </pc:picChg>
      </pc:sldChg>
      <pc:sldChg chg="addSp delSp modSp add mod">
        <pc:chgData name="Leeladri Reddy G" userId="11febdb7c19a1921" providerId="LiveId" clId="{96483A34-93B2-4607-82FB-68B517D65B3A}" dt="2026-01-31T06:36:41.789" v="2072" actId="1076"/>
        <pc:sldMkLst>
          <pc:docMk/>
          <pc:sldMk cId="2565053775" sldId="262"/>
        </pc:sldMkLst>
        <pc:spChg chg="mod">
          <ac:chgData name="Leeladri Reddy G" userId="11febdb7c19a1921" providerId="LiveId" clId="{96483A34-93B2-4607-82FB-68B517D65B3A}" dt="2026-01-28T05:42:27.050" v="628" actId="20577"/>
          <ac:spMkLst>
            <pc:docMk/>
            <pc:sldMk cId="2565053775" sldId="262"/>
            <ac:spMk id="2" creationId="{8BE90471-8A63-A688-A66E-2EA44551B3F8}"/>
          </ac:spMkLst>
        </pc:spChg>
        <pc:spChg chg="add del mod">
          <ac:chgData name="Leeladri Reddy G" userId="11febdb7c19a1921" providerId="LiveId" clId="{96483A34-93B2-4607-82FB-68B517D65B3A}" dt="2026-01-31T06:32:01.400" v="2043" actId="478"/>
          <ac:spMkLst>
            <pc:docMk/>
            <pc:sldMk cId="2565053775" sldId="262"/>
            <ac:spMk id="5" creationId="{D0E77FE3-4EA7-90DD-DA62-A0BC917412F5}"/>
          </ac:spMkLst>
        </pc:spChg>
        <pc:spChg chg="mod">
          <ac:chgData name="Leeladri Reddy G" userId="11febdb7c19a1921" providerId="LiveId" clId="{96483A34-93B2-4607-82FB-68B517D65B3A}" dt="2026-01-31T06:36:41.789" v="2072" actId="1076"/>
          <ac:spMkLst>
            <pc:docMk/>
            <pc:sldMk cId="2565053775" sldId="262"/>
            <ac:spMk id="7" creationId="{F01C6B61-F94B-8C5C-B5CC-F195E754221A}"/>
          </ac:spMkLst>
        </pc:spChg>
        <pc:spChg chg="add del mod">
          <ac:chgData name="Leeladri Reddy G" userId="11febdb7c19a1921" providerId="LiveId" clId="{96483A34-93B2-4607-82FB-68B517D65B3A}" dt="2026-01-31T06:36:17.299" v="2064" actId="478"/>
          <ac:spMkLst>
            <pc:docMk/>
            <pc:sldMk cId="2565053775" sldId="262"/>
            <ac:spMk id="11" creationId="{F7ED4CCA-E286-607A-C75C-B9FA4A61B153}"/>
          </ac:spMkLst>
        </pc:spChg>
        <pc:spChg chg="add mod">
          <ac:chgData name="Leeladri Reddy G" userId="11febdb7c19a1921" providerId="LiveId" clId="{96483A34-93B2-4607-82FB-68B517D65B3A}" dt="2026-01-31T06:36:17.700" v="2065" actId="1076"/>
          <ac:spMkLst>
            <pc:docMk/>
            <pc:sldMk cId="2565053775" sldId="262"/>
            <ac:spMk id="12" creationId="{4B892246-671D-3D61-EFCA-A8669F8365F7}"/>
          </ac:spMkLst>
        </pc:spChg>
        <pc:picChg chg="add del mod">
          <ac:chgData name="Leeladri Reddy G" userId="11febdb7c19a1921" providerId="LiveId" clId="{96483A34-93B2-4607-82FB-68B517D65B3A}" dt="2026-01-31T06:30:54.723" v="2040" actId="478"/>
          <ac:picMkLst>
            <pc:docMk/>
            <pc:sldMk cId="2565053775" sldId="262"/>
            <ac:picMk id="4" creationId="{9F4DDE4A-E965-A3A1-7228-A64903C1DC71}"/>
          </ac:picMkLst>
        </pc:picChg>
        <pc:picChg chg="add del mod">
          <ac:chgData name="Leeladri Reddy G" userId="11febdb7c19a1921" providerId="LiveId" clId="{96483A34-93B2-4607-82FB-68B517D65B3A}" dt="2026-01-31T06:36:33.055" v="2071" actId="14100"/>
          <ac:picMkLst>
            <pc:docMk/>
            <pc:sldMk cId="2565053775" sldId="262"/>
            <ac:picMk id="8" creationId="{BA0CBAED-9D2A-032C-E38E-61F6400F43D9}"/>
          </ac:picMkLst>
        </pc:picChg>
        <pc:picChg chg="add del mod">
          <ac:chgData name="Leeladri Reddy G" userId="11febdb7c19a1921" providerId="LiveId" clId="{96483A34-93B2-4607-82FB-68B517D65B3A}" dt="2026-01-31T06:36:18.328" v="2066" actId="1440"/>
          <ac:picMkLst>
            <pc:docMk/>
            <pc:sldMk cId="2565053775" sldId="262"/>
            <ac:picMk id="10" creationId="{1CBB3726-5471-314D-753B-033383FF1AEC}"/>
          </ac:picMkLst>
        </pc:picChg>
      </pc:sldChg>
      <pc:sldChg chg="addSp modSp add mod">
        <pc:chgData name="Leeladri Reddy G" userId="11febdb7c19a1921" providerId="LiveId" clId="{96483A34-93B2-4607-82FB-68B517D65B3A}" dt="2026-01-31T06:33:10.146" v="2050" actId="14100"/>
        <pc:sldMkLst>
          <pc:docMk/>
          <pc:sldMk cId="4279173760" sldId="263"/>
        </pc:sldMkLst>
        <pc:spChg chg="mod">
          <ac:chgData name="Leeladri Reddy G" userId="11febdb7c19a1921" providerId="LiveId" clId="{96483A34-93B2-4607-82FB-68B517D65B3A}" dt="2026-01-28T05:46:04.703" v="682" actId="20577"/>
          <ac:spMkLst>
            <pc:docMk/>
            <pc:sldMk cId="4279173760" sldId="263"/>
            <ac:spMk id="2" creationId="{703B1D1E-96DC-62E5-BA28-68F63657B2AD}"/>
          </ac:spMkLst>
        </pc:spChg>
        <pc:spChg chg="mod">
          <ac:chgData name="Leeladri Reddy G" userId="11febdb7c19a1921" providerId="LiveId" clId="{96483A34-93B2-4607-82FB-68B517D65B3A}" dt="2026-01-31T06:33:05.639" v="2049" actId="14100"/>
          <ac:spMkLst>
            <pc:docMk/>
            <pc:sldMk cId="4279173760" sldId="263"/>
            <ac:spMk id="7" creationId="{74CD6E75-87AE-8E39-AB37-B73606BD400B}"/>
          </ac:spMkLst>
        </pc:spChg>
        <pc:picChg chg="add mod">
          <ac:chgData name="Leeladri Reddy G" userId="11febdb7c19a1921" providerId="LiveId" clId="{96483A34-93B2-4607-82FB-68B517D65B3A}" dt="2026-01-31T06:33:10.146" v="2050" actId="14100"/>
          <ac:picMkLst>
            <pc:docMk/>
            <pc:sldMk cId="4279173760" sldId="263"/>
            <ac:picMk id="4" creationId="{0158395C-1557-B900-A2C5-BE03DB9CEF36}"/>
          </ac:picMkLst>
        </pc:picChg>
      </pc:sldChg>
      <pc:sldChg chg="addSp delSp modSp add mod">
        <pc:chgData name="Leeladri Reddy G" userId="11febdb7c19a1921" providerId="LiveId" clId="{96483A34-93B2-4607-82FB-68B517D65B3A}" dt="2026-01-29T09:15:36.482" v="1856" actId="20577"/>
        <pc:sldMkLst>
          <pc:docMk/>
          <pc:sldMk cId="2122308715" sldId="264"/>
        </pc:sldMkLst>
        <pc:spChg chg="mod">
          <ac:chgData name="Leeladri Reddy G" userId="11febdb7c19a1921" providerId="LiveId" clId="{96483A34-93B2-4607-82FB-68B517D65B3A}" dt="2026-01-28T05:55:07.466" v="744" actId="20577"/>
          <ac:spMkLst>
            <pc:docMk/>
            <pc:sldMk cId="2122308715" sldId="264"/>
            <ac:spMk id="2" creationId="{42D55A8D-6746-24A8-FC14-7EE835CCED95}"/>
          </ac:spMkLst>
        </pc:spChg>
        <pc:spChg chg="add mod">
          <ac:chgData name="Leeladri Reddy G" userId="11febdb7c19a1921" providerId="LiveId" clId="{96483A34-93B2-4607-82FB-68B517D65B3A}" dt="2026-01-29T09:15:36.482" v="1856" actId="20577"/>
          <ac:spMkLst>
            <pc:docMk/>
            <pc:sldMk cId="2122308715" sldId="264"/>
            <ac:spMk id="5" creationId="{7B1635C0-1A30-0932-4791-BE03C0D984A6}"/>
          </ac:spMkLst>
        </pc:spChg>
        <pc:graphicFrameChg chg="add mod modGraphic">
          <ac:chgData name="Leeladri Reddy G" userId="11febdb7c19a1921" providerId="LiveId" clId="{96483A34-93B2-4607-82FB-68B517D65B3A}" dt="2026-01-28T11:10:35.565" v="785" actId="1076"/>
          <ac:graphicFrameMkLst>
            <pc:docMk/>
            <pc:sldMk cId="2122308715" sldId="264"/>
            <ac:graphicFrameMk id="3" creationId="{BA3345D7-D5FD-95BA-A6F2-F301893C7EE2}"/>
          </ac:graphicFrameMkLst>
        </pc:graphicFrameChg>
      </pc:sldChg>
      <pc:sldChg chg="addSp delSp modSp add mod ord modTransition modShow">
        <pc:chgData name="Leeladri Reddy G" userId="11febdb7c19a1921" providerId="LiveId" clId="{96483A34-93B2-4607-82FB-68B517D65B3A}" dt="2026-01-28T16:04:04.492" v="1785"/>
        <pc:sldMkLst>
          <pc:docMk/>
          <pc:sldMk cId="3015378814" sldId="265"/>
        </pc:sldMkLst>
        <pc:spChg chg="mod">
          <ac:chgData name="Leeladri Reddy G" userId="11febdb7c19a1921" providerId="LiveId" clId="{96483A34-93B2-4607-82FB-68B517D65B3A}" dt="2026-01-28T11:12:52.409" v="874" actId="313"/>
          <ac:spMkLst>
            <pc:docMk/>
            <pc:sldMk cId="3015378814" sldId="265"/>
            <ac:spMk id="2" creationId="{B2AA176F-371D-6838-BA6B-4F91F9028276}"/>
          </ac:spMkLst>
        </pc:spChg>
        <pc:spChg chg="add mod">
          <ac:chgData name="Leeladri Reddy G" userId="11febdb7c19a1921" providerId="LiveId" clId="{96483A34-93B2-4607-82FB-68B517D65B3A}" dt="2026-01-28T11:14:38.865" v="912" actId="20577"/>
          <ac:spMkLst>
            <pc:docMk/>
            <pc:sldMk cId="3015378814" sldId="265"/>
            <ac:spMk id="3" creationId="{E2AEE8DB-9142-C730-1BD1-FD45E427871D}"/>
          </ac:spMkLst>
        </pc:spChg>
        <pc:spChg chg="add mod">
          <ac:chgData name="Leeladri Reddy G" userId="11febdb7c19a1921" providerId="LiveId" clId="{96483A34-93B2-4607-82FB-68B517D65B3A}" dt="2026-01-28T11:16:09.953" v="920" actId="1076"/>
          <ac:spMkLst>
            <pc:docMk/>
            <pc:sldMk cId="3015378814" sldId="265"/>
            <ac:spMk id="8" creationId="{A1EDC416-89B7-48AF-6916-741DD60C0CF5}"/>
          </ac:spMkLst>
        </pc:spChg>
        <pc:spChg chg="add mod">
          <ac:chgData name="Leeladri Reddy G" userId="11febdb7c19a1921" providerId="LiveId" clId="{96483A34-93B2-4607-82FB-68B517D65B3A}" dt="2026-01-28T11:17:00.151" v="927" actId="20577"/>
          <ac:spMkLst>
            <pc:docMk/>
            <pc:sldMk cId="3015378814" sldId="265"/>
            <ac:spMk id="9" creationId="{FE572178-9177-DEE2-11DA-6DF5C443347E}"/>
          </ac:spMkLst>
        </pc:spChg>
        <pc:picChg chg="add mod">
          <ac:chgData name="Leeladri Reddy G" userId="11febdb7c19a1921" providerId="LiveId" clId="{96483A34-93B2-4607-82FB-68B517D65B3A}" dt="2026-01-28T11:16:14.478" v="921" actId="14100"/>
          <ac:picMkLst>
            <pc:docMk/>
            <pc:sldMk cId="3015378814" sldId="265"/>
            <ac:picMk id="5" creationId="{4E2BB16F-6078-2CAA-D578-4415D42ABBCE}"/>
          </ac:picMkLst>
        </pc:picChg>
      </pc:sldChg>
      <pc:sldChg chg="addSp delSp modSp add mod">
        <pc:chgData name="Leeladri Reddy G" userId="11febdb7c19a1921" providerId="LiveId" clId="{96483A34-93B2-4607-82FB-68B517D65B3A}" dt="2026-01-28T13:09:04.201" v="1483" actId="113"/>
        <pc:sldMkLst>
          <pc:docMk/>
          <pc:sldMk cId="3122147091" sldId="266"/>
        </pc:sldMkLst>
        <pc:spChg chg="add mod">
          <ac:chgData name="Leeladri Reddy G" userId="11febdb7c19a1921" providerId="LiveId" clId="{96483A34-93B2-4607-82FB-68B517D65B3A}" dt="2026-01-28T13:08:51.073" v="1480" actId="113"/>
          <ac:spMkLst>
            <pc:docMk/>
            <pc:sldMk cId="3122147091" sldId="266"/>
            <ac:spMk id="6" creationId="{01CD993D-67EB-A821-8E88-6F8B744B59F9}"/>
          </ac:spMkLst>
        </pc:spChg>
        <pc:spChg chg="add mod">
          <ac:chgData name="Leeladri Reddy G" userId="11febdb7c19a1921" providerId="LiveId" clId="{96483A34-93B2-4607-82FB-68B517D65B3A}" dt="2026-01-28T13:09:04.201" v="1483" actId="113"/>
          <ac:spMkLst>
            <pc:docMk/>
            <pc:sldMk cId="3122147091" sldId="266"/>
            <ac:spMk id="8" creationId="{32E5B38F-97BB-D4CD-CC58-18663A00D97B}"/>
          </ac:spMkLst>
        </pc:spChg>
      </pc:sldChg>
      <pc:sldChg chg="addSp delSp modSp add mod ord">
        <pc:chgData name="Leeladri Reddy G" userId="11febdb7c19a1921" providerId="LiveId" clId="{96483A34-93B2-4607-82FB-68B517D65B3A}" dt="2026-01-28T15:10:31.482" v="1608" actId="1076"/>
        <pc:sldMkLst>
          <pc:docMk/>
          <pc:sldMk cId="3237181818" sldId="267"/>
        </pc:sldMkLst>
        <pc:spChg chg="add del mod">
          <ac:chgData name="Leeladri Reddy G" userId="11febdb7c19a1921" providerId="LiveId" clId="{96483A34-93B2-4607-82FB-68B517D65B3A}" dt="2026-01-28T11:17:53.520" v="990" actId="20577"/>
          <ac:spMkLst>
            <pc:docMk/>
            <pc:sldMk cId="3237181818" sldId="267"/>
            <ac:spMk id="2" creationId="{B3972B6E-BEA5-5B9C-6DEC-A0CAAD4E714E}"/>
          </ac:spMkLst>
        </pc:spChg>
        <pc:spChg chg="add mod">
          <ac:chgData name="Leeladri Reddy G" userId="11febdb7c19a1921" providerId="LiveId" clId="{96483A34-93B2-4607-82FB-68B517D65B3A}" dt="2026-01-28T15:10:31.482" v="1608" actId="1076"/>
          <ac:spMkLst>
            <pc:docMk/>
            <pc:sldMk cId="3237181818" sldId="267"/>
            <ac:spMk id="7" creationId="{665FEF3A-6895-4717-376F-122F484DA9E8}"/>
          </ac:spMkLst>
        </pc:spChg>
      </pc:sldChg>
      <pc:sldChg chg="addSp delSp modSp add mod">
        <pc:chgData name="Leeladri Reddy G" userId="11febdb7c19a1921" providerId="LiveId" clId="{96483A34-93B2-4607-82FB-68B517D65B3A}" dt="2026-01-28T15:11:34.825" v="1613" actId="113"/>
        <pc:sldMkLst>
          <pc:docMk/>
          <pc:sldMk cId="3171771880" sldId="268"/>
        </pc:sldMkLst>
        <pc:spChg chg="add del mod">
          <ac:chgData name="Leeladri Reddy G" userId="11febdb7c19a1921" providerId="LiveId" clId="{96483A34-93B2-4607-82FB-68B517D65B3A}" dt="2026-01-28T11:20:59.102" v="1051" actId="20577"/>
          <ac:spMkLst>
            <pc:docMk/>
            <pc:sldMk cId="3171771880" sldId="268"/>
            <ac:spMk id="2" creationId="{B01CCA9A-8C47-9A6B-C908-5A9430B897CB}"/>
          </ac:spMkLst>
        </pc:spChg>
        <pc:spChg chg="add mod">
          <ac:chgData name="Leeladri Reddy G" userId="11febdb7c19a1921" providerId="LiveId" clId="{96483A34-93B2-4607-82FB-68B517D65B3A}" dt="2026-01-28T15:11:34.825" v="1613" actId="113"/>
          <ac:spMkLst>
            <pc:docMk/>
            <pc:sldMk cId="3171771880" sldId="268"/>
            <ac:spMk id="3" creationId="{A29E0D3E-8ADF-C5E0-5AB7-CC515F87CB4B}"/>
          </ac:spMkLst>
        </pc:spChg>
      </pc:sldChg>
      <pc:sldChg chg="addSp delSp modSp add mod">
        <pc:chgData name="Leeladri Reddy G" userId="11febdb7c19a1921" providerId="LiveId" clId="{96483A34-93B2-4607-82FB-68B517D65B3A}" dt="2026-01-28T15:20:00.538" v="1654" actId="1076"/>
        <pc:sldMkLst>
          <pc:docMk/>
          <pc:sldMk cId="2130311713" sldId="269"/>
        </pc:sldMkLst>
        <pc:spChg chg="mod">
          <ac:chgData name="Leeladri Reddy G" userId="11febdb7c19a1921" providerId="LiveId" clId="{96483A34-93B2-4607-82FB-68B517D65B3A}" dt="2026-01-28T15:18:21.027" v="1646" actId="1076"/>
          <ac:spMkLst>
            <pc:docMk/>
            <pc:sldMk cId="2130311713" sldId="269"/>
            <ac:spMk id="2" creationId="{5B315484-73A9-E8BD-9589-1DDDC9A3CD91}"/>
          </ac:spMkLst>
        </pc:spChg>
        <pc:spChg chg="add mod">
          <ac:chgData name="Leeladri Reddy G" userId="11febdb7c19a1921" providerId="LiveId" clId="{96483A34-93B2-4607-82FB-68B517D65B3A}" dt="2026-01-28T15:20:00.538" v="1654" actId="1076"/>
          <ac:spMkLst>
            <pc:docMk/>
            <pc:sldMk cId="2130311713" sldId="269"/>
            <ac:spMk id="4" creationId="{CAD9F9D6-8EC1-3B92-885F-93FDD505E3E0}"/>
          </ac:spMkLst>
        </pc:spChg>
      </pc:sldChg>
      <pc:sldChg chg="addSp delSp modSp add mod">
        <pc:chgData name="Leeladri Reddy G" userId="11febdb7c19a1921" providerId="LiveId" clId="{96483A34-93B2-4607-82FB-68B517D65B3A}" dt="2026-01-28T15:31:15.338" v="1683" actId="1076"/>
        <pc:sldMkLst>
          <pc:docMk/>
          <pc:sldMk cId="2175852356" sldId="270"/>
        </pc:sldMkLst>
        <pc:spChg chg="mod">
          <ac:chgData name="Leeladri Reddy G" userId="11febdb7c19a1921" providerId="LiveId" clId="{96483A34-93B2-4607-82FB-68B517D65B3A}" dt="2026-01-28T15:30:36.670" v="1672" actId="1076"/>
          <ac:spMkLst>
            <pc:docMk/>
            <pc:sldMk cId="2175852356" sldId="270"/>
            <ac:spMk id="2" creationId="{B4CE37F0-5C34-A060-38AA-A6E89CCEB060}"/>
          </ac:spMkLst>
        </pc:spChg>
        <pc:spChg chg="add mod">
          <ac:chgData name="Leeladri Reddy G" userId="11febdb7c19a1921" providerId="LiveId" clId="{96483A34-93B2-4607-82FB-68B517D65B3A}" dt="2026-01-28T15:31:15.338" v="1683" actId="1076"/>
          <ac:spMkLst>
            <pc:docMk/>
            <pc:sldMk cId="2175852356" sldId="270"/>
            <ac:spMk id="3" creationId="{8598A87F-5816-303D-7A69-E34AA398EB31}"/>
          </ac:spMkLst>
        </pc:spChg>
      </pc:sldChg>
      <pc:sldChg chg="addSp modSp add mod ord modTransition modAnim modShow">
        <pc:chgData name="Leeladri Reddy G" userId="11febdb7c19a1921" providerId="LiveId" clId="{96483A34-93B2-4607-82FB-68B517D65B3A}" dt="2026-01-28T16:04:09.915" v="1786"/>
        <pc:sldMkLst>
          <pc:docMk/>
          <pc:sldMk cId="2992167788" sldId="271"/>
        </pc:sldMkLst>
        <pc:spChg chg="mod">
          <ac:chgData name="Leeladri Reddy G" userId="11febdb7c19a1921" providerId="LiveId" clId="{96483A34-93B2-4607-82FB-68B517D65B3A}" dt="2026-01-28T11:34:52.438" v="1388" actId="255"/>
          <ac:spMkLst>
            <pc:docMk/>
            <pc:sldMk cId="2992167788" sldId="271"/>
            <ac:spMk id="2" creationId="{19D69F14-28C0-E738-F3A9-7C91BB465BD1}"/>
          </ac:spMkLst>
        </pc:spChg>
        <pc:spChg chg="add mod">
          <ac:chgData name="Leeladri Reddy G" userId="11febdb7c19a1921" providerId="LiveId" clId="{96483A34-93B2-4607-82FB-68B517D65B3A}" dt="2026-01-28T11:35:50.854" v="1393" actId="255"/>
          <ac:spMkLst>
            <pc:docMk/>
            <pc:sldMk cId="2992167788" sldId="271"/>
            <ac:spMk id="4" creationId="{500A837A-6EA3-9627-B52B-D8F0AB41B0A3}"/>
          </ac:spMkLst>
        </pc:spChg>
        <pc:spChg chg="add mod">
          <ac:chgData name="Leeladri Reddy G" userId="11febdb7c19a1921" providerId="LiveId" clId="{96483A34-93B2-4607-82FB-68B517D65B3A}" dt="2026-01-28T11:37:19.210" v="1402" actId="14100"/>
          <ac:spMkLst>
            <pc:docMk/>
            <pc:sldMk cId="2992167788" sldId="271"/>
            <ac:spMk id="8" creationId="{B8362FC0-5884-58E7-E8BA-60525A901327}"/>
          </ac:spMkLst>
        </pc:spChg>
        <pc:picChg chg="add mod">
          <ac:chgData name="Leeladri Reddy G" userId="11febdb7c19a1921" providerId="LiveId" clId="{96483A34-93B2-4607-82FB-68B517D65B3A}" dt="2026-01-28T11:37:02.834" v="1399" actId="1076"/>
          <ac:picMkLst>
            <pc:docMk/>
            <pc:sldMk cId="2992167788" sldId="271"/>
            <ac:picMk id="6" creationId="{C82591AF-A711-CD8C-C81C-A21005FE35BE}"/>
          </ac:picMkLst>
        </pc:picChg>
      </pc:sldChg>
      <pc:sldChg chg="addSp delSp modSp add mod">
        <pc:chgData name="Leeladri Reddy G" userId="11febdb7c19a1921" providerId="LiveId" clId="{96483A34-93B2-4607-82FB-68B517D65B3A}" dt="2026-01-31T05:54:14.951" v="1984" actId="12"/>
        <pc:sldMkLst>
          <pc:docMk/>
          <pc:sldMk cId="620789962" sldId="272"/>
        </pc:sldMkLst>
        <pc:spChg chg="del mod">
          <ac:chgData name="Leeladri Reddy G" userId="11febdb7c19a1921" providerId="LiveId" clId="{96483A34-93B2-4607-82FB-68B517D65B3A}" dt="2026-01-31T05:53:59.040" v="1981" actId="478"/>
          <ac:spMkLst>
            <pc:docMk/>
            <pc:sldMk cId="620789962" sldId="272"/>
            <ac:spMk id="2" creationId="{A8A3480C-9556-FC63-7B1C-DDF560DEC2CB}"/>
          </ac:spMkLst>
        </pc:spChg>
        <pc:spChg chg="mod">
          <ac:chgData name="Leeladri Reddy G" userId="11febdb7c19a1921" providerId="LiveId" clId="{96483A34-93B2-4607-82FB-68B517D65B3A}" dt="2026-01-31T05:54:03.253" v="1982" actId="1076"/>
          <ac:spMkLst>
            <pc:docMk/>
            <pc:sldMk cId="620789962" sldId="272"/>
            <ac:spMk id="4" creationId="{17F39750-53FC-3C3B-E304-2D393DD78019}"/>
          </ac:spMkLst>
        </pc:spChg>
        <pc:spChg chg="mod">
          <ac:chgData name="Leeladri Reddy G" userId="11febdb7c19a1921" providerId="LiveId" clId="{96483A34-93B2-4607-82FB-68B517D65B3A}" dt="2026-01-31T05:54:14.951" v="1984" actId="12"/>
          <ac:spMkLst>
            <pc:docMk/>
            <pc:sldMk cId="620789962" sldId="272"/>
            <ac:spMk id="8" creationId="{561E90ED-386A-676A-FC67-2996C2942409}"/>
          </ac:spMkLst>
        </pc:spChg>
        <pc:picChg chg="add mod">
          <ac:chgData name="Leeladri Reddy G" userId="11febdb7c19a1921" providerId="LiveId" clId="{96483A34-93B2-4607-82FB-68B517D65B3A}" dt="2026-01-31T05:54:07.249" v="1983" actId="14100"/>
          <ac:picMkLst>
            <pc:docMk/>
            <pc:sldMk cId="620789962" sldId="272"/>
            <ac:picMk id="5" creationId="{D47A68A7-AFB3-D6C4-521F-3A16E397F2D4}"/>
          </ac:picMkLst>
        </pc:picChg>
      </pc:sldChg>
      <pc:sldChg chg="addSp modSp new mod">
        <pc:chgData name="Leeladri Reddy G" userId="11febdb7c19a1921" providerId="LiveId" clId="{96483A34-93B2-4607-82FB-68B517D65B3A}" dt="2026-01-29T05:59:26.557" v="1854" actId="20577"/>
        <pc:sldMkLst>
          <pc:docMk/>
          <pc:sldMk cId="3556066281" sldId="274"/>
        </pc:sldMkLst>
        <pc:spChg chg="add mod">
          <ac:chgData name="Leeladri Reddy G" userId="11febdb7c19a1921" providerId="LiveId" clId="{96483A34-93B2-4607-82FB-68B517D65B3A}" dt="2026-01-29T05:59:26.557" v="1854" actId="20577"/>
          <ac:spMkLst>
            <pc:docMk/>
            <pc:sldMk cId="3556066281" sldId="274"/>
            <ac:spMk id="3" creationId="{F8FA3D6C-8F54-5BC4-7FC8-F96E85884BF6}"/>
          </ac:spMkLst>
        </pc:spChg>
      </pc:sldChg>
      <pc:sldChg chg="addSp modSp new mod">
        <pc:chgData name="Leeladri Reddy G" userId="11febdb7c19a1921" providerId="LiveId" clId="{96483A34-93B2-4607-82FB-68B517D65B3A}" dt="2026-01-28T15:11:05.001" v="1609" actId="1076"/>
        <pc:sldMkLst>
          <pc:docMk/>
          <pc:sldMk cId="2719032362" sldId="275"/>
        </pc:sldMkLst>
        <pc:spChg chg="add mod">
          <ac:chgData name="Leeladri Reddy G" userId="11febdb7c19a1921" providerId="LiveId" clId="{96483A34-93B2-4607-82FB-68B517D65B3A}" dt="2026-01-28T15:11:05.001" v="1609" actId="1076"/>
          <ac:spMkLst>
            <pc:docMk/>
            <pc:sldMk cId="2719032362" sldId="275"/>
            <ac:spMk id="3" creationId="{88DCF343-5A18-40B8-4F0D-FCF1AD98436D}"/>
          </ac:spMkLst>
        </pc:spChg>
      </pc:sldChg>
      <pc:sldChg chg="addSp delSp modSp new mod">
        <pc:chgData name="Leeladri Reddy G" userId="11febdb7c19a1921" providerId="LiveId" clId="{96483A34-93B2-4607-82FB-68B517D65B3A}" dt="2026-01-28T15:10:18.383" v="1607" actId="14100"/>
        <pc:sldMkLst>
          <pc:docMk/>
          <pc:sldMk cId="3979011254" sldId="276"/>
        </pc:sldMkLst>
        <pc:spChg chg="add del mod">
          <ac:chgData name="Leeladri Reddy G" userId="11febdb7c19a1921" providerId="LiveId" clId="{96483A34-93B2-4607-82FB-68B517D65B3A}" dt="2026-01-28T15:10:18.383" v="1607" actId="14100"/>
          <ac:spMkLst>
            <pc:docMk/>
            <pc:sldMk cId="3979011254" sldId="276"/>
            <ac:spMk id="4" creationId="{A35B2320-2352-9472-D922-C44C276CD21C}"/>
          </ac:spMkLst>
        </pc:spChg>
      </pc:sldChg>
      <pc:sldChg chg="addSp modSp new mod">
        <pc:chgData name="Leeladri Reddy G" userId="11febdb7c19a1921" providerId="LiveId" clId="{96483A34-93B2-4607-82FB-68B517D65B3A}" dt="2026-01-31T05:04:51.186" v="1905" actId="1076"/>
        <pc:sldMkLst>
          <pc:docMk/>
          <pc:sldMk cId="3358250251" sldId="277"/>
        </pc:sldMkLst>
        <pc:spChg chg="add mod">
          <ac:chgData name="Leeladri Reddy G" userId="11febdb7c19a1921" providerId="LiveId" clId="{96483A34-93B2-4607-82FB-68B517D65B3A}" dt="2026-01-31T05:03:23.367" v="1885" actId="113"/>
          <ac:spMkLst>
            <pc:docMk/>
            <pc:sldMk cId="3358250251" sldId="277"/>
            <ac:spMk id="3" creationId="{68AFD168-3684-AA10-6255-4C2B7A1C176D}"/>
          </ac:spMkLst>
        </pc:spChg>
        <pc:spChg chg="add mod">
          <ac:chgData name="Leeladri Reddy G" userId="11febdb7c19a1921" providerId="LiveId" clId="{96483A34-93B2-4607-82FB-68B517D65B3A}" dt="2026-01-31T05:04:51.186" v="1905" actId="1076"/>
          <ac:spMkLst>
            <pc:docMk/>
            <pc:sldMk cId="3358250251" sldId="277"/>
            <ac:spMk id="7" creationId="{D6CB51BA-363F-859A-814E-DC8A9B64FD61}"/>
          </ac:spMkLst>
        </pc:spChg>
        <pc:picChg chg="add mod">
          <ac:chgData name="Leeladri Reddy G" userId="11febdb7c19a1921" providerId="LiveId" clId="{96483A34-93B2-4607-82FB-68B517D65B3A}" dt="2026-01-31T05:02:57.592" v="1883" actId="1076"/>
          <ac:picMkLst>
            <pc:docMk/>
            <pc:sldMk cId="3358250251" sldId="277"/>
            <ac:picMk id="5" creationId="{4B6B5AFA-C217-15DE-2752-029BC1A2E20E}"/>
          </ac:picMkLst>
        </pc:picChg>
      </pc:sldChg>
      <pc:sldChg chg="addSp modSp new mod">
        <pc:chgData name="Leeladri Reddy G" userId="11febdb7c19a1921" providerId="LiveId" clId="{96483A34-93B2-4607-82FB-68B517D65B3A}" dt="2026-01-31T05:38:47.290" v="1928" actId="14100"/>
        <pc:sldMkLst>
          <pc:docMk/>
          <pc:sldMk cId="3404888290" sldId="278"/>
        </pc:sldMkLst>
        <pc:spChg chg="add mod">
          <ac:chgData name="Leeladri Reddy G" userId="11febdb7c19a1921" providerId="LiveId" clId="{96483A34-93B2-4607-82FB-68B517D65B3A}" dt="2026-01-31T05:37:22.410" v="1919" actId="1076"/>
          <ac:spMkLst>
            <pc:docMk/>
            <pc:sldMk cId="3404888290" sldId="278"/>
            <ac:spMk id="3" creationId="{421977EB-BE9C-3F07-0C4F-423C8CD77B6E}"/>
          </ac:spMkLst>
        </pc:spChg>
        <pc:spChg chg="add mod">
          <ac:chgData name="Leeladri Reddy G" userId="11febdb7c19a1921" providerId="LiveId" clId="{96483A34-93B2-4607-82FB-68B517D65B3A}" dt="2026-01-31T05:38:47.290" v="1928" actId="14100"/>
          <ac:spMkLst>
            <pc:docMk/>
            <pc:sldMk cId="3404888290" sldId="278"/>
            <ac:spMk id="7" creationId="{B6A9B754-A506-6D9C-9D1F-F821DEE6BF32}"/>
          </ac:spMkLst>
        </pc:spChg>
        <pc:picChg chg="add mod">
          <ac:chgData name="Leeladri Reddy G" userId="11febdb7c19a1921" providerId="LiveId" clId="{96483A34-93B2-4607-82FB-68B517D65B3A}" dt="2026-01-31T05:37:18.460" v="1918" actId="1076"/>
          <ac:picMkLst>
            <pc:docMk/>
            <pc:sldMk cId="3404888290" sldId="278"/>
            <ac:picMk id="5" creationId="{B4B1A62D-972A-AFBC-AFA5-F161BEACD139}"/>
          </ac:picMkLst>
        </pc:picChg>
      </pc:sldChg>
      <pc:sldChg chg="addSp modSp new mod">
        <pc:chgData name="Leeladri Reddy G" userId="11febdb7c19a1921" providerId="LiveId" clId="{96483A34-93B2-4607-82FB-68B517D65B3A}" dt="2026-01-31T05:43:04.037" v="1949" actId="255"/>
        <pc:sldMkLst>
          <pc:docMk/>
          <pc:sldMk cId="2263835816" sldId="279"/>
        </pc:sldMkLst>
        <pc:spChg chg="add mod">
          <ac:chgData name="Leeladri Reddy G" userId="11febdb7c19a1921" providerId="LiveId" clId="{96483A34-93B2-4607-82FB-68B517D65B3A}" dt="2026-01-31T05:39:37.703" v="1934" actId="14100"/>
          <ac:spMkLst>
            <pc:docMk/>
            <pc:sldMk cId="2263835816" sldId="279"/>
            <ac:spMk id="3" creationId="{8AD65616-5738-6195-2AFE-65B2CE74303E}"/>
          </ac:spMkLst>
        </pc:spChg>
        <pc:spChg chg="add mod">
          <ac:chgData name="Leeladri Reddy G" userId="11febdb7c19a1921" providerId="LiveId" clId="{96483A34-93B2-4607-82FB-68B517D65B3A}" dt="2026-01-31T05:43:04.037" v="1949" actId="255"/>
          <ac:spMkLst>
            <pc:docMk/>
            <pc:sldMk cId="2263835816" sldId="279"/>
            <ac:spMk id="7" creationId="{3F14048A-0529-1B86-A29F-9B6911E5970B}"/>
          </ac:spMkLst>
        </pc:spChg>
        <pc:picChg chg="add mod">
          <ac:chgData name="Leeladri Reddy G" userId="11febdb7c19a1921" providerId="LiveId" clId="{96483A34-93B2-4607-82FB-68B517D65B3A}" dt="2026-01-31T05:40:34.368" v="1938" actId="1076"/>
          <ac:picMkLst>
            <pc:docMk/>
            <pc:sldMk cId="2263835816" sldId="279"/>
            <ac:picMk id="5" creationId="{1BFCA28F-E56B-8A6C-1F93-3E392D93EBBA}"/>
          </ac:picMkLst>
        </pc:picChg>
      </pc:sldChg>
      <pc:sldChg chg="addSp modSp new mod ord">
        <pc:chgData name="Leeladri Reddy G" userId="11febdb7c19a1921" providerId="LiveId" clId="{96483A34-93B2-4607-82FB-68B517D65B3A}" dt="2026-01-31T05:52:25.317" v="1976"/>
        <pc:sldMkLst>
          <pc:docMk/>
          <pc:sldMk cId="3434627788" sldId="280"/>
        </pc:sldMkLst>
        <pc:spChg chg="add mod">
          <ac:chgData name="Leeladri Reddy G" userId="11febdb7c19a1921" providerId="LiveId" clId="{96483A34-93B2-4607-82FB-68B517D65B3A}" dt="2026-01-31T05:46:29.507" v="1965" actId="255"/>
          <ac:spMkLst>
            <pc:docMk/>
            <pc:sldMk cId="3434627788" sldId="280"/>
            <ac:spMk id="5" creationId="{D4FCE2C5-28A7-C2FD-27ED-6D27B950645C}"/>
          </ac:spMkLst>
        </pc:spChg>
        <pc:spChg chg="add mod">
          <ac:chgData name="Leeladri Reddy G" userId="11febdb7c19a1921" providerId="LiveId" clId="{96483A34-93B2-4607-82FB-68B517D65B3A}" dt="2026-01-31T05:51:55.551" v="1974" actId="14100"/>
          <ac:spMkLst>
            <pc:docMk/>
            <pc:sldMk cId="3434627788" sldId="280"/>
            <ac:spMk id="7" creationId="{D66A47AC-2E00-3A81-5C35-40B0AD77028D}"/>
          </ac:spMkLst>
        </pc:spChg>
        <pc:picChg chg="add mod">
          <ac:chgData name="Leeladri Reddy G" userId="11febdb7c19a1921" providerId="LiveId" clId="{96483A34-93B2-4607-82FB-68B517D65B3A}" dt="2026-01-31T05:51:28.841" v="1967" actId="1076"/>
          <ac:picMkLst>
            <pc:docMk/>
            <pc:sldMk cId="3434627788" sldId="280"/>
            <ac:picMk id="3" creationId="{0B9EB27A-2534-8710-C33C-C2AD4710C6FD}"/>
          </ac:picMkLst>
        </pc:picChg>
      </pc:sldChg>
      <pc:sldChg chg="addSp modSp new mod">
        <pc:chgData name="Leeladri Reddy G" userId="11febdb7c19a1921" providerId="LiveId" clId="{96483A34-93B2-4607-82FB-68B517D65B3A}" dt="2026-01-31T05:59:32.675" v="2023" actId="1076"/>
        <pc:sldMkLst>
          <pc:docMk/>
          <pc:sldMk cId="1482589456" sldId="281"/>
        </pc:sldMkLst>
        <pc:spChg chg="add mod">
          <ac:chgData name="Leeladri Reddy G" userId="11febdb7c19a1921" providerId="LiveId" clId="{96483A34-93B2-4607-82FB-68B517D65B3A}" dt="2026-01-31T05:57:37.092" v="2006" actId="14100"/>
          <ac:spMkLst>
            <pc:docMk/>
            <pc:sldMk cId="1482589456" sldId="281"/>
            <ac:spMk id="3" creationId="{78E67B77-4FD3-F1B7-DBB8-592C69F5F28B}"/>
          </ac:spMkLst>
        </pc:spChg>
        <pc:spChg chg="add mod">
          <ac:chgData name="Leeladri Reddy G" userId="11febdb7c19a1921" providerId="LiveId" clId="{96483A34-93B2-4607-82FB-68B517D65B3A}" dt="2026-01-31T05:59:32.675" v="2023" actId="1076"/>
          <ac:spMkLst>
            <pc:docMk/>
            <pc:sldMk cId="1482589456" sldId="281"/>
            <ac:spMk id="7" creationId="{1EB42562-7DD2-9147-8191-ADC58AF4B31C}"/>
          </ac:spMkLst>
        </pc:spChg>
        <pc:picChg chg="add mod">
          <ac:chgData name="Leeladri Reddy G" userId="11febdb7c19a1921" providerId="LiveId" clId="{96483A34-93B2-4607-82FB-68B517D65B3A}" dt="2026-01-31T05:58:51.419" v="2017" actId="14100"/>
          <ac:picMkLst>
            <pc:docMk/>
            <pc:sldMk cId="1482589456" sldId="281"/>
            <ac:picMk id="5" creationId="{5242CCFD-EA01-1E7D-00BF-DE267608CBBA}"/>
          </ac:picMkLst>
        </pc:picChg>
      </pc:sldChg>
      <pc:sldChg chg="addSp delSp modSp add mod">
        <pc:chgData name="Leeladri Reddy G" userId="11febdb7c19a1921" providerId="LiveId" clId="{96483A34-93B2-4607-82FB-68B517D65B3A}" dt="2026-01-31T05:56:02.472" v="2000" actId="255"/>
        <pc:sldMkLst>
          <pc:docMk/>
          <pc:sldMk cId="1364616135" sldId="282"/>
        </pc:sldMkLst>
        <pc:spChg chg="mod">
          <ac:chgData name="Leeladri Reddy G" userId="11febdb7c19a1921" providerId="LiveId" clId="{96483A34-93B2-4607-82FB-68B517D65B3A}" dt="2026-01-31T05:54:39.372" v="1988" actId="255"/>
          <ac:spMkLst>
            <pc:docMk/>
            <pc:sldMk cId="1364616135" sldId="282"/>
            <ac:spMk id="4" creationId="{EB55AE7A-91BF-D2BE-647E-5FEDD3623FE7}"/>
          </ac:spMkLst>
        </pc:spChg>
        <pc:spChg chg="del mod">
          <ac:chgData name="Leeladri Reddy G" userId="11febdb7c19a1921" providerId="LiveId" clId="{96483A34-93B2-4607-82FB-68B517D65B3A}" dt="2026-01-31T05:54:44.355" v="1990" actId="478"/>
          <ac:spMkLst>
            <pc:docMk/>
            <pc:sldMk cId="1364616135" sldId="282"/>
            <ac:spMk id="8" creationId="{2E3D01B5-B400-C52E-456B-D90DA7F15028}"/>
          </ac:spMkLst>
        </pc:spChg>
        <pc:spChg chg="add mod">
          <ac:chgData name="Leeladri Reddy G" userId="11febdb7c19a1921" providerId="LiveId" clId="{96483A34-93B2-4607-82FB-68B517D65B3A}" dt="2026-01-31T05:56:02.472" v="2000" actId="255"/>
          <ac:spMkLst>
            <pc:docMk/>
            <pc:sldMk cId="1364616135" sldId="282"/>
            <ac:spMk id="9" creationId="{80ADB079-7CA7-F187-5E03-44916A510E88}"/>
          </ac:spMkLst>
        </pc:spChg>
        <pc:picChg chg="del">
          <ac:chgData name="Leeladri Reddy G" userId="11febdb7c19a1921" providerId="LiveId" clId="{96483A34-93B2-4607-82FB-68B517D65B3A}" dt="2026-01-31T05:54:24.571" v="1985" actId="478"/>
          <ac:picMkLst>
            <pc:docMk/>
            <pc:sldMk cId="1364616135" sldId="282"/>
            <ac:picMk id="5" creationId="{71DBB3D1-F5EF-EA04-D1D3-D009473F9CEB}"/>
          </ac:picMkLst>
        </pc:picChg>
        <pc:picChg chg="add mod">
          <ac:chgData name="Leeladri Reddy G" userId="11febdb7c19a1921" providerId="LiveId" clId="{96483A34-93B2-4607-82FB-68B517D65B3A}" dt="2026-01-31T05:55:20.709" v="1994" actId="14100"/>
          <ac:picMkLst>
            <pc:docMk/>
            <pc:sldMk cId="1364616135" sldId="282"/>
            <ac:picMk id="6" creationId="{D3EE7AE0-2D97-A91D-A946-B48923D2FB07}"/>
          </ac:picMkLst>
        </pc:picChg>
      </pc:sldChg>
      <pc:sldChg chg="new add del">
        <pc:chgData name="Leeladri Reddy G" userId="11febdb7c19a1921" providerId="LiveId" clId="{96483A34-93B2-4607-82FB-68B517D65B3A}" dt="2026-01-31T10:24:09.018" v="2094" actId="680"/>
        <pc:sldMkLst>
          <pc:docMk/>
          <pc:sldMk cId="808719405" sldId="283"/>
        </pc:sldMkLst>
      </pc:sldChg>
      <pc:sldChg chg="new del">
        <pc:chgData name="Leeladri Reddy G" userId="11febdb7c19a1921" providerId="LiveId" clId="{96483A34-93B2-4607-82FB-68B517D65B3A}" dt="2026-01-31T07:15:52.548" v="2074" actId="47"/>
        <pc:sldMkLst>
          <pc:docMk/>
          <pc:sldMk cId="1722687483" sldId="283"/>
        </pc:sldMkLst>
      </pc:sldChg>
      <pc:sldMasterChg chg="delSldLayout">
        <pc:chgData name="Leeladri Reddy G" userId="11febdb7c19a1921" providerId="LiveId" clId="{96483A34-93B2-4607-82FB-68B517D65B3A}" dt="2026-01-26T06:46:30.164" v="88" actId="47"/>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608FC1-E6D5-7999-4560-0E2A51FBEA32}"/>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2F04EA7C-5DFB-5923-CC5B-B8F6500FADF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FBF211E7-2B09-5343-4DB8-33113EFFA86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3984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gandudi-leeladri-reddy"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github.com/gandudileeladrireddy" TargetMode="External"/><Relationship Id="rId4" Type="http://schemas.openxmlformats.org/officeDocument/2006/relationships/hyperlink" Target="https://github.com/gandudileeladrireddy/"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858000"/>
          </a:xfrm>
          <a:prstGeom prst="rect">
            <a:avLst/>
          </a:prstGeom>
          <a:noFill/>
          <a:ln>
            <a:noFill/>
          </a:ln>
        </p:spPr>
      </p:pic>
      <p:sp>
        <p:nvSpPr>
          <p:cNvPr id="99" name="Google Shape;99;p1"/>
          <p:cNvSpPr txBox="1"/>
          <p:nvPr/>
        </p:nvSpPr>
        <p:spPr>
          <a:xfrm>
            <a:off x="2472904" y="3949097"/>
            <a:ext cx="7246189" cy="477013"/>
          </a:xfrm>
          <a:prstGeom prst="rect">
            <a:avLst/>
          </a:prstGeom>
          <a:noFill/>
          <a:ln>
            <a:noFill/>
          </a:ln>
        </p:spPr>
        <p:txBody>
          <a:bodyPr spcFirstLastPara="1" wrap="square" lIns="91425" tIns="45700" rIns="91425" bIns="45700" anchor="t" anchorCtr="0">
            <a:spAutoFit/>
          </a:bodyPr>
          <a:lstStyle/>
          <a:p>
            <a:pPr lvl="0" algn="ctr">
              <a:buSzPts val="1800"/>
            </a:pPr>
            <a:r>
              <a:rPr lang="en-US" sz="2500" b="1" dirty="0">
                <a:latin typeface="Times New Roman" panose="02020603050405020304" pitchFamily="18" charset="0"/>
                <a:cs typeface="Times New Roman" panose="02020603050405020304" pitchFamily="18" charset="0"/>
              </a:rPr>
              <a:t>Smart Analysis of Used Car Market Trends</a:t>
            </a:r>
          </a:p>
        </p:txBody>
      </p:sp>
      <p:sp>
        <p:nvSpPr>
          <p:cNvPr id="2" name="TextBox 1">
            <a:extLst>
              <a:ext uri="{FF2B5EF4-FFF2-40B4-BE49-F238E27FC236}">
                <a16:creationId xmlns:a16="http://schemas.microsoft.com/office/drawing/2014/main" id="{337ACD43-2242-952C-86B5-96795113BDEF}"/>
              </a:ext>
            </a:extLst>
          </p:cNvPr>
          <p:cNvSpPr txBox="1"/>
          <p:nvPr/>
        </p:nvSpPr>
        <p:spPr>
          <a:xfrm>
            <a:off x="7676941" y="5719227"/>
            <a:ext cx="3594623" cy="1338828"/>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Presented by</a:t>
            </a:r>
          </a:p>
          <a:p>
            <a:endParaRPr lang="en-IN" sz="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       Name: </a:t>
            </a:r>
            <a:r>
              <a:rPr lang="en-IN" sz="1800" dirty="0" err="1">
                <a:latin typeface="Times New Roman" panose="02020603050405020304" pitchFamily="18" charset="0"/>
                <a:cs typeface="Times New Roman" panose="02020603050405020304" pitchFamily="18" charset="0"/>
              </a:rPr>
              <a:t>Gandudi</a:t>
            </a:r>
            <a:r>
              <a:rPr lang="en-IN" sz="1800" dirty="0">
                <a:latin typeface="Times New Roman" panose="02020603050405020304" pitchFamily="18" charset="0"/>
                <a:cs typeface="Times New Roman" panose="02020603050405020304" pitchFamily="18" charset="0"/>
              </a:rPr>
              <a:t> Leeladri Reddy</a:t>
            </a:r>
          </a:p>
          <a:p>
            <a:endParaRPr lang="en-IN" sz="5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       Batch: 442</a:t>
            </a:r>
          </a:p>
          <a:p>
            <a:endParaRPr lang="en-IN" dirty="0"/>
          </a:p>
        </p:txBody>
      </p:sp>
      <p:sp>
        <p:nvSpPr>
          <p:cNvPr id="4" name="TextBox 3">
            <a:extLst>
              <a:ext uri="{FF2B5EF4-FFF2-40B4-BE49-F238E27FC236}">
                <a16:creationId xmlns:a16="http://schemas.microsoft.com/office/drawing/2014/main" id="{41149368-D0DC-3898-0C25-8379F2FEB715}"/>
              </a:ext>
            </a:extLst>
          </p:cNvPr>
          <p:cNvSpPr txBox="1"/>
          <p:nvPr/>
        </p:nvSpPr>
        <p:spPr>
          <a:xfrm>
            <a:off x="5627077" y="4549448"/>
            <a:ext cx="4217795" cy="307777"/>
          </a:xfrm>
          <a:prstGeom prst="rect">
            <a:avLst/>
          </a:prstGeom>
          <a:noFill/>
        </p:spPr>
        <p:txBody>
          <a:bodyPr wrap="square">
            <a:spAutoFit/>
          </a:bodyPr>
          <a:lstStyle/>
          <a:p>
            <a:r>
              <a:rPr lang="en-US" dirty="0"/>
              <a:t>-- Decoding Value in the Pre-owned Market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317124" y="386408"/>
            <a:ext cx="6099463"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About Me</a:t>
            </a:r>
            <a:endParaRPr sz="3200" b="0"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2" name="object 2">
            <a:extLst>
              <a:ext uri="{FF2B5EF4-FFF2-40B4-BE49-F238E27FC236}">
                <a16:creationId xmlns:a16="http://schemas.microsoft.com/office/drawing/2014/main" id="{810F6187-F3BB-C72F-36AE-9BB73DF49DFB}"/>
              </a:ext>
            </a:extLst>
          </p:cNvPr>
          <p:cNvSpPr txBox="1"/>
          <p:nvPr/>
        </p:nvSpPr>
        <p:spPr>
          <a:xfrm>
            <a:off x="834013" y="1205801"/>
            <a:ext cx="10440237" cy="2188100"/>
          </a:xfrm>
          <a:prstGeom prst="rect">
            <a:avLst/>
          </a:prstGeom>
        </p:spPr>
        <p:txBody>
          <a:bodyPr vert="horz" wrap="square" lIns="0" tIns="12700" rIns="0" bIns="0" rtlCol="0">
            <a:spAutoFit/>
          </a:bodyPr>
          <a:lstStyle/>
          <a:p>
            <a:pPr marL="335280" indent="-277495">
              <a:lnSpc>
                <a:spcPct val="150000"/>
              </a:lnSpc>
              <a:spcBef>
                <a:spcPts val="100"/>
              </a:spcBef>
              <a:buFont typeface="Arial"/>
              <a:buChar char="•"/>
              <a:tabLst>
                <a:tab pos="335280" algn="l"/>
              </a:tabLst>
            </a:pPr>
            <a:r>
              <a:rPr lang="en-IN" sz="2400" dirty="0">
                <a:latin typeface="Times New Roman" panose="02020603050405020304" pitchFamily="18" charset="0"/>
                <a:cs typeface="Times New Roman" panose="02020603050405020304" pitchFamily="18" charset="0"/>
              </a:rPr>
              <a:t>I am a recent Graduate in Bachelor of Technology</a:t>
            </a:r>
          </a:p>
          <a:p>
            <a:pPr marL="335280" indent="-277495">
              <a:lnSpc>
                <a:spcPct val="150000"/>
              </a:lnSpc>
              <a:spcBef>
                <a:spcPts val="100"/>
              </a:spcBef>
              <a:buFont typeface="Arial"/>
              <a:buChar char="•"/>
              <a:tabLst>
                <a:tab pos="335280" algn="l"/>
              </a:tabLst>
            </a:pPr>
            <a:r>
              <a:rPr lang="en-US" sz="2400" dirty="0">
                <a:latin typeface="Times New Roman" panose="02020603050405020304" pitchFamily="18" charset="0"/>
                <a:cs typeface="Times New Roman" panose="02020603050405020304" pitchFamily="18" charset="0"/>
              </a:rPr>
              <a:t>I want to be a data scientist to build a models that can solve real-world problems.</a:t>
            </a:r>
          </a:p>
          <a:p>
            <a:pPr marL="335280" indent="-277495">
              <a:lnSpc>
                <a:spcPct val="150000"/>
              </a:lnSpc>
              <a:spcBef>
                <a:spcPts val="100"/>
              </a:spcBef>
              <a:buFont typeface="Arial"/>
              <a:buChar char="•"/>
              <a:tabLst>
                <a:tab pos="335280" algn="l"/>
              </a:tabLst>
            </a:pPr>
            <a:r>
              <a:rPr sz="2400" b="1" spc="-10" dirty="0">
                <a:latin typeface="Times New Roman" panose="02020603050405020304" pitchFamily="18" charset="0"/>
                <a:cs typeface="Times New Roman" panose="02020603050405020304" pitchFamily="18" charset="0"/>
              </a:rPr>
              <a:t>LinkedIn</a:t>
            </a:r>
            <a:r>
              <a:rPr lang="en-IN" sz="2400" b="1" spc="-7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hlinkClick r:id="rId3"/>
              </a:rPr>
              <a:t>www.linkedin.com/in/gandudi-leeladri-reddy</a:t>
            </a:r>
            <a:endParaRPr lang="en-IN" sz="2400" spc="-70" dirty="0">
              <a:latin typeface="Times New Roman" panose="02020603050405020304" pitchFamily="18" charset="0"/>
              <a:cs typeface="Times New Roman" panose="02020603050405020304" pitchFamily="18" charset="0"/>
            </a:endParaRPr>
          </a:p>
          <a:p>
            <a:pPr marL="335280" indent="-322580">
              <a:lnSpc>
                <a:spcPct val="150000"/>
              </a:lnSpc>
              <a:buChar char="•"/>
              <a:tabLst>
                <a:tab pos="335280" algn="l"/>
              </a:tabLst>
            </a:pPr>
            <a:r>
              <a:rPr sz="2400" b="1" dirty="0">
                <a:latin typeface="Times New Roman" panose="02020603050405020304" pitchFamily="18" charset="0"/>
                <a:cs typeface="Times New Roman" panose="02020603050405020304" pitchFamily="18" charset="0"/>
              </a:rPr>
              <a:t>GitHub</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hlinkClick r:id="rId4"/>
              </a:rPr>
              <a:t> </a:t>
            </a:r>
            <a:r>
              <a:rPr lang="en-IN" sz="2400" dirty="0">
                <a:latin typeface="Times New Roman" panose="02020603050405020304" pitchFamily="18" charset="0"/>
                <a:cs typeface="Times New Roman" panose="02020603050405020304" pitchFamily="18" charset="0"/>
                <a:hlinkClick r:id="rId5"/>
              </a:rPr>
              <a:t>https://github.com/gandudileeladrireddy</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CB802E12-0B45-F5EF-5090-78439EC7CD72}"/>
            </a:ext>
          </a:extLst>
        </p:cNvPr>
        <p:cNvGrpSpPr/>
        <p:nvPr/>
      </p:nvGrpSpPr>
      <p:grpSpPr>
        <a:xfrm>
          <a:off x="0" y="0"/>
          <a:ext cx="0" cy="0"/>
          <a:chOff x="0" y="0"/>
          <a:chExt cx="0" cy="0"/>
        </a:xfrm>
      </p:grpSpPr>
      <p:sp>
        <p:nvSpPr>
          <p:cNvPr id="105" name="Google Shape;105;p3">
            <a:extLst>
              <a:ext uri="{FF2B5EF4-FFF2-40B4-BE49-F238E27FC236}">
                <a16:creationId xmlns:a16="http://schemas.microsoft.com/office/drawing/2014/main" id="{4E16DEF0-B5F5-A6A9-8BE8-B3B742C886DF}"/>
              </a:ext>
            </a:extLst>
          </p:cNvPr>
          <p:cNvSpPr txBox="1"/>
          <p:nvPr/>
        </p:nvSpPr>
        <p:spPr>
          <a:xfrm>
            <a:off x="317124" y="386408"/>
            <a:ext cx="6099463"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A</a:t>
            </a:r>
            <a:r>
              <a:rPr lang="en-IN" sz="3200" dirty="0">
                <a:solidFill>
                  <a:srgbClr val="FF0000"/>
                </a:solidFill>
                <a:latin typeface="Times New Roman" panose="02020603050405020304" pitchFamily="18" charset="0"/>
                <a:ea typeface="Lato Black"/>
                <a:cs typeface="Times New Roman" panose="02020603050405020304" pitchFamily="18" charset="0"/>
                <a:sym typeface="Lato Black"/>
              </a:rPr>
              <a:t>g</a:t>
            </a:r>
            <a:r>
              <a:rPr lang="en-IN" sz="3200" b="0"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enda</a:t>
            </a:r>
            <a:endParaRPr sz="3200" b="0"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2" name="object 2">
            <a:extLst>
              <a:ext uri="{FF2B5EF4-FFF2-40B4-BE49-F238E27FC236}">
                <a16:creationId xmlns:a16="http://schemas.microsoft.com/office/drawing/2014/main" id="{6B000A77-693E-CCCC-F3D8-520F5EACBBD6}"/>
              </a:ext>
            </a:extLst>
          </p:cNvPr>
          <p:cNvSpPr txBox="1"/>
          <p:nvPr/>
        </p:nvSpPr>
        <p:spPr>
          <a:xfrm>
            <a:off x="834013" y="1205801"/>
            <a:ext cx="10440237" cy="5035033"/>
          </a:xfrm>
          <a:prstGeom prst="rect">
            <a:avLst/>
          </a:prstGeom>
        </p:spPr>
        <p:txBody>
          <a:bodyPr vert="horz" wrap="square" lIns="0" tIns="12700" rIns="0" bIns="0" rtlCol="0">
            <a:spAutoFit/>
          </a:bodyPr>
          <a:lstStyle/>
          <a:p>
            <a:pPr marL="335280" indent="-277495">
              <a:lnSpc>
                <a:spcPct val="150000"/>
              </a:lnSpc>
              <a:spcBef>
                <a:spcPts val="100"/>
              </a:spcBef>
              <a:buFont typeface="Arial"/>
              <a:buChar char="•"/>
              <a:tabLst>
                <a:tab pos="335280" algn="l"/>
              </a:tabLst>
            </a:pPr>
            <a:r>
              <a:rPr lang="en-IN" sz="2400" dirty="0">
                <a:latin typeface="Times New Roman" panose="02020603050405020304" pitchFamily="18" charset="0"/>
                <a:cs typeface="Times New Roman" panose="02020603050405020304" pitchFamily="18" charset="0"/>
              </a:rPr>
              <a:t>Business Problem</a:t>
            </a:r>
          </a:p>
          <a:p>
            <a:pPr marL="335280" indent="-277495">
              <a:lnSpc>
                <a:spcPct val="150000"/>
              </a:lnSpc>
              <a:spcBef>
                <a:spcPts val="100"/>
              </a:spcBef>
              <a:buFont typeface="Arial"/>
              <a:buChar char="•"/>
              <a:tabLst>
                <a:tab pos="335280" algn="l"/>
              </a:tabLst>
            </a:pPr>
            <a:r>
              <a:rPr lang="en-IN" sz="2400" dirty="0">
                <a:latin typeface="Times New Roman" panose="02020603050405020304" pitchFamily="18" charset="0"/>
                <a:cs typeface="Times New Roman" panose="02020603050405020304" pitchFamily="18" charset="0"/>
              </a:rPr>
              <a:t>Business Objective</a:t>
            </a:r>
          </a:p>
          <a:p>
            <a:pPr marL="335280" indent="-277495">
              <a:lnSpc>
                <a:spcPct val="150000"/>
              </a:lnSpc>
              <a:spcBef>
                <a:spcPts val="100"/>
              </a:spcBef>
              <a:buFont typeface="Arial"/>
              <a:buChar char="•"/>
              <a:tabLst>
                <a:tab pos="335280" algn="l"/>
              </a:tabLst>
            </a:pPr>
            <a:r>
              <a:rPr lang="en-IN" sz="2400" dirty="0">
                <a:latin typeface="Times New Roman" panose="02020603050405020304" pitchFamily="18" charset="0"/>
                <a:cs typeface="Times New Roman" panose="02020603050405020304" pitchFamily="18" charset="0"/>
              </a:rPr>
              <a:t>Problem Statement </a:t>
            </a:r>
          </a:p>
          <a:p>
            <a:pPr marL="335280" indent="-277495">
              <a:lnSpc>
                <a:spcPct val="150000"/>
              </a:lnSpc>
              <a:spcBef>
                <a:spcPts val="100"/>
              </a:spcBef>
              <a:buFont typeface="Arial"/>
              <a:buChar char="•"/>
              <a:tabLst>
                <a:tab pos="335280" algn="l"/>
              </a:tabLst>
            </a:pPr>
            <a:r>
              <a:rPr lang="en-IN" sz="2400" dirty="0">
                <a:latin typeface="Times New Roman" panose="02020603050405020304" pitchFamily="18" charset="0"/>
                <a:cs typeface="Times New Roman" panose="02020603050405020304" pitchFamily="18" charset="0"/>
              </a:rPr>
              <a:t>Data Preprocessing</a:t>
            </a:r>
          </a:p>
          <a:p>
            <a:pPr marL="335280" indent="-277495">
              <a:lnSpc>
                <a:spcPct val="150000"/>
              </a:lnSpc>
              <a:spcBef>
                <a:spcPts val="100"/>
              </a:spcBef>
              <a:buFont typeface="Arial"/>
              <a:buChar char="•"/>
              <a:tabLst>
                <a:tab pos="335280" algn="l"/>
              </a:tabLst>
            </a:pPr>
            <a:r>
              <a:rPr lang="en-IN" sz="2400" dirty="0">
                <a:latin typeface="Times New Roman" panose="02020603050405020304" pitchFamily="18" charset="0"/>
                <a:cs typeface="Times New Roman" panose="02020603050405020304" pitchFamily="18" charset="0"/>
              </a:rPr>
              <a:t>Exploratory Data Analysis (EDA)</a:t>
            </a:r>
          </a:p>
          <a:p>
            <a:pPr marL="335280" indent="-277495">
              <a:lnSpc>
                <a:spcPct val="150000"/>
              </a:lnSpc>
              <a:spcBef>
                <a:spcPts val="100"/>
              </a:spcBef>
              <a:buFont typeface="Arial"/>
              <a:buChar char="•"/>
              <a:tabLst>
                <a:tab pos="335280" algn="l"/>
              </a:tabLst>
            </a:pPr>
            <a:r>
              <a:rPr lang="en-IN" sz="2400" dirty="0">
                <a:latin typeface="Times New Roman" panose="02020603050405020304" pitchFamily="18" charset="0"/>
                <a:cs typeface="Times New Roman" panose="02020603050405020304" pitchFamily="18" charset="0"/>
              </a:rPr>
              <a:t>Hypothesis Testing </a:t>
            </a:r>
          </a:p>
          <a:p>
            <a:pPr marL="335280" indent="-277495">
              <a:lnSpc>
                <a:spcPct val="150000"/>
              </a:lnSpc>
              <a:spcBef>
                <a:spcPts val="100"/>
              </a:spcBef>
              <a:buFont typeface="Arial"/>
              <a:buChar char="•"/>
              <a:tabLst>
                <a:tab pos="335280" algn="l"/>
              </a:tabLst>
            </a:pPr>
            <a:r>
              <a:rPr lang="en-IN" sz="2400" dirty="0">
                <a:latin typeface="Times New Roman" panose="02020603050405020304" pitchFamily="18" charset="0"/>
                <a:cs typeface="Times New Roman" panose="02020603050405020304" pitchFamily="18" charset="0"/>
              </a:rPr>
              <a:t>Recommendations</a:t>
            </a:r>
          </a:p>
          <a:p>
            <a:pPr marL="335280" indent="-277495">
              <a:lnSpc>
                <a:spcPct val="150000"/>
              </a:lnSpc>
              <a:spcBef>
                <a:spcPts val="100"/>
              </a:spcBef>
              <a:buFont typeface="Arial"/>
              <a:buChar char="•"/>
              <a:tabLst>
                <a:tab pos="335280" algn="l"/>
              </a:tabLst>
            </a:pPr>
            <a:r>
              <a:rPr lang="en-IN" sz="2400" dirty="0">
                <a:latin typeface="Times New Roman" panose="02020603050405020304" pitchFamily="18" charset="0"/>
                <a:cs typeface="Times New Roman" panose="02020603050405020304" pitchFamily="18" charset="0"/>
              </a:rPr>
              <a:t>Challenges</a:t>
            </a:r>
          </a:p>
          <a:p>
            <a:pPr marL="335280" indent="-277495">
              <a:lnSpc>
                <a:spcPct val="150000"/>
              </a:lnSpc>
              <a:spcBef>
                <a:spcPts val="100"/>
              </a:spcBef>
              <a:buFont typeface="Arial"/>
              <a:buChar char="•"/>
              <a:tabLst>
                <a:tab pos="335280" algn="l"/>
              </a:tabLst>
            </a:pPr>
            <a:r>
              <a:rPr lang="en-IN" sz="24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484140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6BB1CD-AC9C-F99F-FEAA-EDBA314DFDC1}"/>
              </a:ext>
            </a:extLst>
          </p:cNvPr>
          <p:cNvSpPr txBox="1"/>
          <p:nvPr/>
        </p:nvSpPr>
        <p:spPr>
          <a:xfrm>
            <a:off x="251209" y="284407"/>
            <a:ext cx="1146182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Business Problem</a:t>
            </a:r>
          </a:p>
        </p:txBody>
      </p:sp>
      <p:sp>
        <p:nvSpPr>
          <p:cNvPr id="7" name="Rectangle 4">
            <a:extLst>
              <a:ext uri="{FF2B5EF4-FFF2-40B4-BE49-F238E27FC236}">
                <a16:creationId xmlns:a16="http://schemas.microsoft.com/office/drawing/2014/main" id="{D7102538-87F2-F54E-9C8E-F2F67F96F2AD}"/>
              </a:ext>
            </a:extLst>
          </p:cNvPr>
          <p:cNvSpPr>
            <a:spLocks noChangeArrowheads="1"/>
          </p:cNvSpPr>
          <p:nvPr/>
        </p:nvSpPr>
        <p:spPr bwMode="auto">
          <a:xfrm>
            <a:off x="512466" y="1069252"/>
            <a:ext cx="6822830" cy="5788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The Backstory:</a:t>
            </a:r>
          </a:p>
          <a:p>
            <a:pPr marL="0" marR="0" lvl="0" indent="0" algn="just" defTabSz="914400" rtl="0" eaLnBrk="0" fontAlgn="base" latinLnBrk="0" hangingPunct="0">
              <a:lnSpc>
                <a:spcPct val="100000"/>
              </a:lnSpc>
              <a:spcAft>
                <a:spcPts val="140"/>
              </a:spcAft>
              <a:buClrTx/>
              <a:buSzTx/>
              <a:buFontTx/>
              <a:buNone/>
              <a:tabLst/>
            </a:pP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For many Indian families, owning a car is a vital milestone and a necessity for mobility. However, with the rising costs of new vehicles, insurance, and taxes, the </a:t>
            </a: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pre-owned car market</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has become the primary gateway to vehicle ownership. This market allows buyers to upgrade their lifestyle by accessing premium models at a fraction of the showroom price.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The Problem:</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Despite its growth, the used car market remains a </a:t>
            </a: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"Black Box"</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for consumers. Unlike new cars with fixed pricing, second-hand prices are highly inconsistent due to: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Lack of Transparency:</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Significant price variations for similar models across different sellers and cities.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Information Asymmetry:</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Buyers struggle to quantify how factors like mileage, owner history, and fuel type should realistically impact the price.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High Friction:</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The fear of overpaying or buying a "lemon" leads to distrust and inefficient decision-making.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0032F1E1-A257-F1A4-D28F-E0AA29C439F3}"/>
              </a:ext>
            </a:extLst>
          </p:cNvPr>
          <p:cNvPicPr>
            <a:picLocks noChangeAspect="1"/>
          </p:cNvPicPr>
          <p:nvPr/>
        </p:nvPicPr>
        <p:blipFill>
          <a:blip r:embed="rId2"/>
          <a:stretch>
            <a:fillRect/>
          </a:stretch>
        </p:blipFill>
        <p:spPr>
          <a:xfrm>
            <a:off x="7526215" y="1396721"/>
            <a:ext cx="4642339" cy="4592097"/>
          </a:xfrm>
          <a:prstGeom prst="rect">
            <a:avLst/>
          </a:prstGeom>
        </p:spPr>
      </p:pic>
    </p:spTree>
    <p:extLst>
      <p:ext uri="{BB962C8B-B14F-4D97-AF65-F5344CB8AC3E}">
        <p14:creationId xmlns:p14="http://schemas.microsoft.com/office/powerpoint/2010/main" val="406739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8A6A6-1F5F-CF04-1176-720BA550643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E90471-8A63-A688-A66E-2EA44551B3F8}"/>
              </a:ext>
            </a:extLst>
          </p:cNvPr>
          <p:cNvSpPr txBox="1"/>
          <p:nvPr/>
        </p:nvSpPr>
        <p:spPr>
          <a:xfrm>
            <a:off x="442127" y="291402"/>
            <a:ext cx="1146182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Problem Statement</a:t>
            </a:r>
          </a:p>
        </p:txBody>
      </p:sp>
      <p:sp>
        <p:nvSpPr>
          <p:cNvPr id="7" name="Rectangle 4">
            <a:extLst>
              <a:ext uri="{FF2B5EF4-FFF2-40B4-BE49-F238E27FC236}">
                <a16:creationId xmlns:a16="http://schemas.microsoft.com/office/drawing/2014/main" id="{F01C6B61-F94B-8C5C-B5CC-F195E754221A}"/>
              </a:ext>
            </a:extLst>
          </p:cNvPr>
          <p:cNvSpPr>
            <a:spLocks noChangeArrowheads="1"/>
          </p:cNvSpPr>
          <p:nvPr/>
        </p:nvSpPr>
        <p:spPr bwMode="auto">
          <a:xfrm>
            <a:off x="813916" y="995311"/>
            <a:ext cx="7114233" cy="4433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50784"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lang="en-US" sz="1800" dirty="0">
                <a:latin typeface="Times New Roman" panose="02020603050405020304" pitchFamily="18" charset="0"/>
                <a:cs typeface="Times New Roman" panose="02020603050405020304" pitchFamily="18" charset="0"/>
              </a:rPr>
              <a:t>The Indian used car market is characterized by </a:t>
            </a:r>
            <a:r>
              <a:rPr lang="en-US" sz="1800" b="1" dirty="0">
                <a:latin typeface="Times New Roman" panose="02020603050405020304" pitchFamily="18" charset="0"/>
                <a:cs typeface="Times New Roman" panose="02020603050405020304" pitchFamily="18" charset="0"/>
              </a:rPr>
              <a:t>fragmented data and inconsistent pricing</a:t>
            </a:r>
            <a:r>
              <a:rPr lang="en-US" sz="1800" dirty="0">
                <a:latin typeface="Times New Roman" panose="02020603050405020304" pitchFamily="18" charset="0"/>
                <a:cs typeface="Times New Roman" panose="02020603050405020304" pitchFamily="18" charset="0"/>
              </a:rPr>
              <a:t>, leaving buyers without a reliable benchmark for fair market value. Consumers often face a "take-it-or-leave-it" scenario where prices are dictated by seller intuition rather than objective data.</a:t>
            </a:r>
          </a:p>
          <a:p>
            <a:pPr marR="0" lvl="0" algn="l" defTabSz="914400" rtl="0" eaLnBrk="0" fontAlgn="base" latinLnBrk="0" hangingPunct="0">
              <a:lnSpc>
                <a:spcPct val="100000"/>
              </a:lnSpc>
              <a:spcBef>
                <a:spcPct val="0"/>
              </a:spcBef>
              <a:spcAft>
                <a:spcPct val="0"/>
              </a:spcAft>
              <a:buClrTx/>
              <a:buSzTx/>
              <a:tabLst/>
            </a:pPr>
            <a:endParaRPr lang="en-US" sz="1800" dirty="0"/>
          </a:p>
          <a:p>
            <a:pPr algn="just"/>
            <a:r>
              <a:rPr lang="en-US" sz="1800" dirty="0">
                <a:latin typeface="Times New Roman" panose="02020603050405020304" pitchFamily="18" charset="0"/>
                <a:cs typeface="Times New Roman" panose="02020603050405020304" pitchFamily="18" charset="0"/>
              </a:rPr>
              <a:t>This project addresses this gap by building a </a:t>
            </a:r>
            <a:r>
              <a:rPr lang="en-US" sz="1800" b="1" dirty="0">
                <a:latin typeface="Times New Roman" panose="02020603050405020304" pitchFamily="18" charset="0"/>
                <a:cs typeface="Times New Roman" panose="02020603050405020304" pitchFamily="18" charset="0"/>
              </a:rPr>
              <a:t>data-driven analysis system</a:t>
            </a:r>
            <a:r>
              <a:rPr lang="en-US" sz="1800" dirty="0">
                <a:latin typeface="Times New Roman" panose="02020603050405020304" pitchFamily="18" charset="0"/>
                <a:cs typeface="Times New Roman" panose="02020603050405020304" pitchFamily="18" charset="0"/>
              </a:rPr>
              <a:t> that scrapes real-time listings from </a:t>
            </a:r>
            <a:r>
              <a:rPr lang="en-US" sz="1800" b="1" dirty="0">
                <a:latin typeface="Times New Roman" panose="02020603050405020304" pitchFamily="18" charset="0"/>
                <a:cs typeface="Times New Roman" panose="02020603050405020304" pitchFamily="18" charset="0"/>
              </a:rPr>
              <a:t>CARS24</a:t>
            </a:r>
            <a:r>
              <a:rPr lang="en-US" sz="1800" dirty="0">
                <a:latin typeface="Times New Roman" panose="02020603050405020304" pitchFamily="18" charset="0"/>
                <a:cs typeface="Times New Roman" panose="02020603050405020304" pitchFamily="18" charset="0"/>
              </a:rPr>
              <a:t>. By extracting and analyzing key variables—such as brand, mileage, fuel type, and age—the project aims to:</a:t>
            </a:r>
          </a:p>
          <a:p>
            <a:endParaRPr lang="en-US"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Quantify</a:t>
            </a:r>
            <a:r>
              <a:rPr lang="en-US" sz="1800" dirty="0">
                <a:latin typeface="Times New Roman" panose="02020603050405020304" pitchFamily="18" charset="0"/>
                <a:cs typeface="Times New Roman" panose="02020603050405020304" pitchFamily="18" charset="0"/>
              </a:rPr>
              <a:t> the primary drivers of vehicle depreciation.</a:t>
            </a:r>
          </a:p>
          <a:p>
            <a:pPr marL="285750" indent="-285750">
              <a:lnSpc>
                <a:spcPct val="15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Identify</a:t>
            </a:r>
            <a:r>
              <a:rPr lang="en-US" sz="1800" dirty="0">
                <a:latin typeface="Times New Roman" panose="02020603050405020304" pitchFamily="18" charset="0"/>
                <a:cs typeface="Times New Roman" panose="02020603050405020304" pitchFamily="18" charset="0"/>
              </a:rPr>
              <a:t> pricing anomalies and "best-value" segments.</a:t>
            </a:r>
          </a:p>
          <a:p>
            <a:pPr marL="285750" indent="-285750">
              <a:lnSpc>
                <a:spcPct val="15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Empower</a:t>
            </a:r>
            <a:r>
              <a:rPr lang="en-US" sz="1800" dirty="0">
                <a:latin typeface="Times New Roman" panose="02020603050405020304" pitchFamily="18" charset="0"/>
                <a:cs typeface="Times New Roman" panose="02020603050405020304" pitchFamily="18" charset="0"/>
              </a:rPr>
              <a:t> buyers with transparent insights to make informed, budget-conscious purchasing decisions.</a:t>
            </a:r>
          </a:p>
        </p:txBody>
      </p:sp>
      <p:pic>
        <p:nvPicPr>
          <p:cNvPr id="8" name="Picture 7">
            <a:extLst>
              <a:ext uri="{FF2B5EF4-FFF2-40B4-BE49-F238E27FC236}">
                <a16:creationId xmlns:a16="http://schemas.microsoft.com/office/drawing/2014/main" id="{BA0CBAED-9D2A-032C-E38E-61F6400F43D9}"/>
              </a:ext>
            </a:extLst>
          </p:cNvPr>
          <p:cNvPicPr>
            <a:picLocks noChangeAspect="1"/>
          </p:cNvPicPr>
          <p:nvPr/>
        </p:nvPicPr>
        <p:blipFill>
          <a:blip r:embed="rId2"/>
          <a:stretch>
            <a:fillRect/>
          </a:stretch>
        </p:blipFill>
        <p:spPr>
          <a:xfrm>
            <a:off x="7928149" y="1095270"/>
            <a:ext cx="3975798" cy="3125038"/>
          </a:xfrm>
          <a:prstGeom prst="rect">
            <a:avLst/>
          </a:prstGeom>
        </p:spPr>
      </p:pic>
    </p:spTree>
    <p:extLst>
      <p:ext uri="{BB962C8B-B14F-4D97-AF65-F5344CB8AC3E}">
        <p14:creationId xmlns:p14="http://schemas.microsoft.com/office/powerpoint/2010/main" val="2565053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D404C-8494-80A7-823A-D1965A83FC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3B1D1E-96DC-62E5-BA28-68F63657B2AD}"/>
              </a:ext>
            </a:extLst>
          </p:cNvPr>
          <p:cNvSpPr txBox="1"/>
          <p:nvPr/>
        </p:nvSpPr>
        <p:spPr>
          <a:xfrm>
            <a:off x="442127" y="291402"/>
            <a:ext cx="1146182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Business Objective</a:t>
            </a:r>
          </a:p>
        </p:txBody>
      </p:sp>
      <p:sp>
        <p:nvSpPr>
          <p:cNvPr id="7" name="Rectangle 4">
            <a:extLst>
              <a:ext uri="{FF2B5EF4-FFF2-40B4-BE49-F238E27FC236}">
                <a16:creationId xmlns:a16="http://schemas.microsoft.com/office/drawing/2014/main" id="{74CD6E75-87AE-8E39-AB37-B73606BD400B}"/>
              </a:ext>
            </a:extLst>
          </p:cNvPr>
          <p:cNvSpPr>
            <a:spLocks noChangeArrowheads="1"/>
          </p:cNvSpPr>
          <p:nvPr/>
        </p:nvSpPr>
        <p:spPr bwMode="auto">
          <a:xfrm>
            <a:off x="783771" y="834113"/>
            <a:ext cx="6913266" cy="5037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50784" numCol="1" anchor="ctr" anchorCtr="0" compatLnSpc="1">
            <a:prstTxWarp prst="textNoShape">
              <a:avLst/>
            </a:prstTxWarp>
            <a:spAutoFit/>
          </a:bodyPr>
          <a:lstStyle/>
          <a:p>
            <a:r>
              <a:rPr lang="en-US" sz="1800" dirty="0">
                <a:latin typeface="Times New Roman" panose="02020603050405020304" pitchFamily="18" charset="0"/>
                <a:cs typeface="Times New Roman" panose="02020603050405020304" pitchFamily="18" charset="0"/>
              </a:rPr>
              <a:t>The primary goal is to </a:t>
            </a:r>
            <a:r>
              <a:rPr lang="en-US" sz="1800" b="1" dirty="0">
                <a:latin typeface="Times New Roman" panose="02020603050405020304" pitchFamily="18" charset="0"/>
                <a:cs typeface="Times New Roman" panose="02020603050405020304" pitchFamily="18" charset="0"/>
              </a:rPr>
              <a:t>bridge the information gap</a:t>
            </a:r>
            <a:r>
              <a:rPr lang="en-US" sz="1800" dirty="0">
                <a:latin typeface="Times New Roman" panose="02020603050405020304" pitchFamily="18" charset="0"/>
                <a:cs typeface="Times New Roman" panose="02020603050405020304" pitchFamily="18" charset="0"/>
              </a:rPr>
              <a:t> between sellers and buyers by transforming raw web data into a transparent pricing framework.</a:t>
            </a:r>
          </a:p>
          <a:p>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Establish Price Benchmarks:</a:t>
            </a:r>
            <a:r>
              <a:rPr lang="en-US" sz="1800" dirty="0">
                <a:latin typeface="Times New Roman" panose="02020603050405020304" pitchFamily="18" charset="0"/>
                <a:cs typeface="Times New Roman" panose="02020603050405020304" pitchFamily="18" charset="0"/>
              </a:rPr>
              <a:t> Create a "Fair Market Value" standard to help buyers identify overpriced or underpriced listings.</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Quantify Value Drivers:</a:t>
            </a:r>
            <a:r>
              <a:rPr lang="en-US" sz="1800" dirty="0">
                <a:latin typeface="Times New Roman" panose="02020603050405020304" pitchFamily="18" charset="0"/>
                <a:cs typeface="Times New Roman" panose="02020603050405020304" pitchFamily="18" charset="0"/>
              </a:rPr>
              <a:t> Isolate how specific variables (Brand, Mileage, Age, Fuel Type) directly impact the final asking price.</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Optimize Consumer Spend:</a:t>
            </a:r>
            <a:r>
              <a:rPr lang="en-US" sz="1800" dirty="0">
                <a:latin typeface="Times New Roman" panose="02020603050405020304" pitchFamily="18" charset="0"/>
                <a:cs typeface="Times New Roman" panose="02020603050405020304" pitchFamily="18" charset="0"/>
              </a:rPr>
              <a:t> Guide buyers toward the "Best Value" segments, ensuring they get the highest quality vehicle for their specific budget.</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Risk Mitigation:</a:t>
            </a:r>
            <a:r>
              <a:rPr lang="en-US" sz="1800" dirty="0">
                <a:latin typeface="Times New Roman" panose="02020603050405020304" pitchFamily="18" charset="0"/>
                <a:cs typeface="Times New Roman" panose="02020603050405020304" pitchFamily="18" charset="0"/>
              </a:rPr>
              <a:t> Reduce the financial uncertainty of purchasing second-hand by providing data-backed depreciation insights.</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Market Transparency:</a:t>
            </a:r>
            <a:r>
              <a:rPr lang="en-US" sz="1800" dirty="0">
                <a:latin typeface="Times New Roman" panose="02020603050405020304" pitchFamily="18" charset="0"/>
                <a:cs typeface="Times New Roman" panose="02020603050405020304" pitchFamily="18" charset="0"/>
              </a:rPr>
              <a:t> Empower the Indian middle class with a data-driven tool that replaces seller intuition with empirical evidence.</a:t>
            </a:r>
          </a:p>
        </p:txBody>
      </p:sp>
      <p:pic>
        <p:nvPicPr>
          <p:cNvPr id="4" name="Picture 3">
            <a:extLst>
              <a:ext uri="{FF2B5EF4-FFF2-40B4-BE49-F238E27FC236}">
                <a16:creationId xmlns:a16="http://schemas.microsoft.com/office/drawing/2014/main" id="{0158395C-1557-B900-A2C5-BE03DB9CEF36}"/>
              </a:ext>
            </a:extLst>
          </p:cNvPr>
          <p:cNvPicPr>
            <a:picLocks noChangeAspect="1"/>
          </p:cNvPicPr>
          <p:nvPr/>
        </p:nvPicPr>
        <p:blipFill>
          <a:blip r:embed="rId2"/>
          <a:stretch>
            <a:fillRect/>
          </a:stretch>
        </p:blipFill>
        <p:spPr>
          <a:xfrm>
            <a:off x="7697037" y="1396722"/>
            <a:ext cx="4494963" cy="3989194"/>
          </a:xfrm>
          <a:prstGeom prst="rect">
            <a:avLst/>
          </a:prstGeom>
        </p:spPr>
      </p:pic>
    </p:spTree>
    <p:extLst>
      <p:ext uri="{BB962C8B-B14F-4D97-AF65-F5344CB8AC3E}">
        <p14:creationId xmlns:p14="http://schemas.microsoft.com/office/powerpoint/2010/main" val="4279173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50CEE-5288-2840-78F6-12B6DD88B3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D55A8D-6746-24A8-FC14-7EE835CCED95}"/>
              </a:ext>
            </a:extLst>
          </p:cNvPr>
          <p:cNvSpPr txBox="1"/>
          <p:nvPr/>
        </p:nvSpPr>
        <p:spPr>
          <a:xfrm>
            <a:off x="442127" y="291402"/>
            <a:ext cx="1146182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Data Pre-Processing</a:t>
            </a:r>
          </a:p>
        </p:txBody>
      </p:sp>
      <p:graphicFrame>
        <p:nvGraphicFramePr>
          <p:cNvPr id="3" name="Table 2">
            <a:extLst>
              <a:ext uri="{FF2B5EF4-FFF2-40B4-BE49-F238E27FC236}">
                <a16:creationId xmlns:a16="http://schemas.microsoft.com/office/drawing/2014/main" id="{BA3345D7-D5FD-95BA-A6F2-F301893C7EE2}"/>
              </a:ext>
            </a:extLst>
          </p:cNvPr>
          <p:cNvGraphicFramePr>
            <a:graphicFrameLocks noGrp="1"/>
          </p:cNvGraphicFramePr>
          <p:nvPr>
            <p:extLst>
              <p:ext uri="{D42A27DB-BD31-4B8C-83A1-F6EECF244321}">
                <p14:modId xmlns:p14="http://schemas.microsoft.com/office/powerpoint/2010/main" val="3367357001"/>
              </p:ext>
            </p:extLst>
          </p:nvPr>
        </p:nvGraphicFramePr>
        <p:xfrm>
          <a:off x="978877" y="2129959"/>
          <a:ext cx="8516814" cy="3870960"/>
        </p:xfrm>
        <a:graphic>
          <a:graphicData uri="http://schemas.openxmlformats.org/drawingml/2006/table">
            <a:tbl>
              <a:tblPr>
                <a:tableStyleId>{7DF18680-E054-41AD-8BC1-D1AEF772440D}</a:tableStyleId>
              </a:tblPr>
              <a:tblGrid>
                <a:gridCol w="1469655">
                  <a:extLst>
                    <a:ext uri="{9D8B030D-6E8A-4147-A177-3AD203B41FA5}">
                      <a16:colId xmlns:a16="http://schemas.microsoft.com/office/drawing/2014/main" val="1284098265"/>
                    </a:ext>
                  </a:extLst>
                </a:gridCol>
                <a:gridCol w="4208221">
                  <a:extLst>
                    <a:ext uri="{9D8B030D-6E8A-4147-A177-3AD203B41FA5}">
                      <a16:colId xmlns:a16="http://schemas.microsoft.com/office/drawing/2014/main" val="3802044196"/>
                    </a:ext>
                  </a:extLst>
                </a:gridCol>
                <a:gridCol w="2838938">
                  <a:extLst>
                    <a:ext uri="{9D8B030D-6E8A-4147-A177-3AD203B41FA5}">
                      <a16:colId xmlns:a16="http://schemas.microsoft.com/office/drawing/2014/main" val="1597165326"/>
                    </a:ext>
                  </a:extLst>
                </a:gridCol>
              </a:tblGrid>
              <a:tr h="319922">
                <a:tc>
                  <a:txBody>
                    <a:bodyPr/>
                    <a:lstStyle/>
                    <a:p>
                      <a:pPr rtl="0">
                        <a:buNone/>
                      </a:pPr>
                      <a:r>
                        <a:rPr lang="en-IN" b="1">
                          <a:solidFill>
                            <a:srgbClr val="1F1F1F"/>
                          </a:solidFill>
                          <a:effectLst/>
                        </a:rPr>
                        <a:t>Column Name</a:t>
                      </a:r>
                      <a:endParaRPr lang="en-IN">
                        <a:solidFill>
                          <a:srgbClr val="1F1F1F"/>
                        </a:solidFill>
                        <a:effectLst/>
                        <a:latin typeface="Google Sans Text"/>
                      </a:endParaRPr>
                    </a:p>
                  </a:txBody>
                  <a:tcPr marT="60960" marB="60960" anchor="ctr"/>
                </a:tc>
                <a:tc>
                  <a:txBody>
                    <a:bodyPr/>
                    <a:lstStyle/>
                    <a:p>
                      <a:pPr rtl="0">
                        <a:buNone/>
                      </a:pPr>
                      <a:r>
                        <a:rPr lang="en-IN" b="1">
                          <a:solidFill>
                            <a:srgbClr val="1F1F1F"/>
                          </a:solidFill>
                          <a:effectLst/>
                        </a:rPr>
                        <a:t>Description</a:t>
                      </a:r>
                      <a:endParaRPr lang="en-IN">
                        <a:solidFill>
                          <a:srgbClr val="1F1F1F"/>
                        </a:solidFill>
                        <a:effectLst/>
                        <a:latin typeface="Google Sans Text"/>
                      </a:endParaRPr>
                    </a:p>
                  </a:txBody>
                  <a:tcPr marT="60960" marB="60960" anchor="ctr"/>
                </a:tc>
                <a:tc>
                  <a:txBody>
                    <a:bodyPr/>
                    <a:lstStyle/>
                    <a:p>
                      <a:pPr rtl="0">
                        <a:buNone/>
                      </a:pPr>
                      <a:r>
                        <a:rPr lang="en-IN" b="1">
                          <a:solidFill>
                            <a:srgbClr val="1F1F1F"/>
                          </a:solidFill>
                          <a:effectLst/>
                        </a:rPr>
                        <a:t>Sample / Format</a:t>
                      </a:r>
                      <a:endParaRPr lang="en-IN">
                        <a:solidFill>
                          <a:srgbClr val="1F1F1F"/>
                        </a:solidFill>
                        <a:effectLst/>
                        <a:latin typeface="Google Sans Text"/>
                      </a:endParaRPr>
                    </a:p>
                  </a:txBody>
                  <a:tcPr marT="60960" marB="60960" anchor="ctr"/>
                </a:tc>
                <a:extLst>
                  <a:ext uri="{0D108BD9-81ED-4DB2-BD59-A6C34878D82A}">
                    <a16:rowId xmlns:a16="http://schemas.microsoft.com/office/drawing/2014/main" val="1072120359"/>
                  </a:ext>
                </a:extLst>
              </a:tr>
              <a:tr h="523509">
                <a:tc>
                  <a:txBody>
                    <a:bodyPr/>
                    <a:lstStyle/>
                    <a:p>
                      <a:pPr rtl="0">
                        <a:buNone/>
                      </a:pPr>
                      <a:r>
                        <a:rPr lang="en-IN" b="1" dirty="0">
                          <a:solidFill>
                            <a:srgbClr val="1F1F1F"/>
                          </a:solidFill>
                          <a:effectLst/>
                        </a:rPr>
                        <a:t>car</a:t>
                      </a:r>
                      <a:endParaRPr lang="en-IN" dirty="0">
                        <a:solidFill>
                          <a:srgbClr val="1F1F1F"/>
                        </a:solidFill>
                        <a:effectLst/>
                        <a:latin typeface="Google Sans Text"/>
                      </a:endParaRPr>
                    </a:p>
                  </a:txBody>
                  <a:tcPr marT="60960" marB="60960" anchor="ctr"/>
                </a:tc>
                <a:tc>
                  <a:txBody>
                    <a:bodyPr/>
                    <a:lstStyle/>
                    <a:p>
                      <a:pPr rtl="0">
                        <a:buNone/>
                      </a:pPr>
                      <a:r>
                        <a:rPr lang="en-US" dirty="0">
                          <a:solidFill>
                            <a:srgbClr val="1F1F1F"/>
                          </a:solidFill>
                          <a:effectLst/>
                        </a:rPr>
                        <a:t>A composite string containing the Manufacturing Year, Brand, and Model.</a:t>
                      </a:r>
                      <a:endParaRPr lang="en-US" dirty="0">
                        <a:solidFill>
                          <a:srgbClr val="1F1F1F"/>
                        </a:solidFill>
                        <a:effectLst/>
                        <a:latin typeface="Google Sans Text"/>
                      </a:endParaRPr>
                    </a:p>
                  </a:txBody>
                  <a:tcPr marT="60960" marB="60960" anchor="ctr"/>
                </a:tc>
                <a:tc>
                  <a:txBody>
                    <a:bodyPr/>
                    <a:lstStyle/>
                    <a:p>
                      <a:pPr rtl="0">
                        <a:buNone/>
                      </a:pPr>
                      <a:r>
                        <a:rPr lang="en-IN">
                          <a:solidFill>
                            <a:srgbClr val="444746"/>
                          </a:solidFill>
                          <a:effectLst/>
                        </a:rPr>
                        <a:t>2021 Mahindra Thar</a:t>
                      </a:r>
                      <a:endParaRPr lang="en-IN">
                        <a:solidFill>
                          <a:srgbClr val="1F1F1F"/>
                        </a:solidFill>
                        <a:effectLst/>
                        <a:latin typeface="Google Sans Text"/>
                      </a:endParaRPr>
                    </a:p>
                  </a:txBody>
                  <a:tcPr marT="60960" marB="60960" anchor="ctr"/>
                </a:tc>
                <a:extLst>
                  <a:ext uri="{0D108BD9-81ED-4DB2-BD59-A6C34878D82A}">
                    <a16:rowId xmlns:a16="http://schemas.microsoft.com/office/drawing/2014/main" val="2172334273"/>
                  </a:ext>
                </a:extLst>
              </a:tr>
              <a:tr h="523509">
                <a:tc>
                  <a:txBody>
                    <a:bodyPr/>
                    <a:lstStyle/>
                    <a:p>
                      <a:pPr rtl="0">
                        <a:buNone/>
                      </a:pPr>
                      <a:r>
                        <a:rPr lang="en-IN" b="1">
                          <a:solidFill>
                            <a:srgbClr val="1F1F1F"/>
                          </a:solidFill>
                          <a:effectLst/>
                        </a:rPr>
                        <a:t>varient</a:t>
                      </a:r>
                      <a:endParaRPr lang="en-IN">
                        <a:solidFill>
                          <a:srgbClr val="1F1F1F"/>
                        </a:solidFill>
                        <a:effectLst/>
                        <a:latin typeface="Google Sans Text"/>
                      </a:endParaRPr>
                    </a:p>
                  </a:txBody>
                  <a:tcPr marT="60960" marB="60960" anchor="ctr"/>
                </a:tc>
                <a:tc>
                  <a:txBody>
                    <a:bodyPr/>
                    <a:lstStyle/>
                    <a:p>
                      <a:pPr rtl="0">
                        <a:buNone/>
                      </a:pPr>
                      <a:r>
                        <a:rPr lang="en-US" dirty="0">
                          <a:solidFill>
                            <a:srgbClr val="1F1F1F"/>
                          </a:solidFill>
                          <a:effectLst/>
                        </a:rPr>
                        <a:t>The specific trim level, engine capacity, or edition of the car.</a:t>
                      </a:r>
                      <a:endParaRPr lang="en-US" dirty="0">
                        <a:solidFill>
                          <a:srgbClr val="1F1F1F"/>
                        </a:solidFill>
                        <a:effectLst/>
                        <a:latin typeface="Google Sans Text"/>
                      </a:endParaRPr>
                    </a:p>
                  </a:txBody>
                  <a:tcPr marT="60960" marB="60960" anchor="ctr"/>
                </a:tc>
                <a:tc>
                  <a:txBody>
                    <a:bodyPr/>
                    <a:lstStyle/>
                    <a:p>
                      <a:pPr rtl="0">
                        <a:buNone/>
                      </a:pPr>
                      <a:r>
                        <a:rPr lang="nl-NL">
                          <a:solidFill>
                            <a:srgbClr val="444746"/>
                          </a:solidFill>
                          <a:effectLst/>
                        </a:rPr>
                        <a:t>LX D 4*4 MT HT</a:t>
                      </a:r>
                      <a:endParaRPr lang="nl-NL">
                        <a:solidFill>
                          <a:srgbClr val="1F1F1F"/>
                        </a:solidFill>
                        <a:effectLst/>
                        <a:latin typeface="Google Sans Text"/>
                      </a:endParaRPr>
                    </a:p>
                  </a:txBody>
                  <a:tcPr marT="60960" marB="60960" anchor="ctr"/>
                </a:tc>
                <a:extLst>
                  <a:ext uri="{0D108BD9-81ED-4DB2-BD59-A6C34878D82A}">
                    <a16:rowId xmlns:a16="http://schemas.microsoft.com/office/drawing/2014/main" val="3469087978"/>
                  </a:ext>
                </a:extLst>
              </a:tr>
              <a:tr h="523509">
                <a:tc>
                  <a:txBody>
                    <a:bodyPr/>
                    <a:lstStyle/>
                    <a:p>
                      <a:pPr rtl="0">
                        <a:buNone/>
                      </a:pPr>
                      <a:r>
                        <a:rPr lang="en-IN" b="1">
                          <a:solidFill>
                            <a:srgbClr val="1F1F1F"/>
                          </a:solidFill>
                          <a:effectLst/>
                        </a:rPr>
                        <a:t>km</a:t>
                      </a:r>
                      <a:endParaRPr lang="en-IN">
                        <a:solidFill>
                          <a:srgbClr val="1F1F1F"/>
                        </a:solidFill>
                        <a:effectLst/>
                        <a:latin typeface="Google Sans Text"/>
                      </a:endParaRPr>
                    </a:p>
                  </a:txBody>
                  <a:tcPr marT="60960" marB="60960" anchor="ctr"/>
                </a:tc>
                <a:tc>
                  <a:txBody>
                    <a:bodyPr/>
                    <a:lstStyle/>
                    <a:p>
                      <a:pPr rtl="0">
                        <a:buNone/>
                      </a:pPr>
                      <a:r>
                        <a:rPr lang="en-US" dirty="0">
                          <a:solidFill>
                            <a:srgbClr val="1F1F1F"/>
                          </a:solidFill>
                          <a:effectLst/>
                        </a:rPr>
                        <a:t>The total distance the vehicle has traveled (scraped as text).</a:t>
                      </a:r>
                      <a:endParaRPr lang="en-US" dirty="0">
                        <a:solidFill>
                          <a:srgbClr val="1F1F1F"/>
                        </a:solidFill>
                        <a:effectLst/>
                        <a:latin typeface="Google Sans Text"/>
                      </a:endParaRPr>
                    </a:p>
                  </a:txBody>
                  <a:tcPr marT="60960" marB="60960" anchor="ctr"/>
                </a:tc>
                <a:tc>
                  <a:txBody>
                    <a:bodyPr/>
                    <a:lstStyle/>
                    <a:p>
                      <a:pPr rtl="0">
                        <a:buNone/>
                      </a:pPr>
                      <a:r>
                        <a:rPr lang="en-IN" dirty="0">
                          <a:solidFill>
                            <a:srgbClr val="444746"/>
                          </a:solidFill>
                          <a:effectLst/>
                        </a:rPr>
                        <a:t>25,772 km</a:t>
                      </a:r>
                      <a:endParaRPr lang="en-IN" dirty="0">
                        <a:solidFill>
                          <a:srgbClr val="1F1F1F"/>
                        </a:solidFill>
                        <a:effectLst/>
                        <a:latin typeface="Google Sans Text"/>
                      </a:endParaRPr>
                    </a:p>
                  </a:txBody>
                  <a:tcPr marT="60960" marB="60960" anchor="ctr"/>
                </a:tc>
                <a:extLst>
                  <a:ext uri="{0D108BD9-81ED-4DB2-BD59-A6C34878D82A}">
                    <a16:rowId xmlns:a16="http://schemas.microsoft.com/office/drawing/2014/main" val="310571600"/>
                  </a:ext>
                </a:extLst>
              </a:tr>
              <a:tr h="319922">
                <a:tc>
                  <a:txBody>
                    <a:bodyPr/>
                    <a:lstStyle/>
                    <a:p>
                      <a:pPr rtl="0">
                        <a:buNone/>
                      </a:pPr>
                      <a:r>
                        <a:rPr lang="en-IN" b="1" dirty="0">
                          <a:solidFill>
                            <a:srgbClr val="1F1F1F"/>
                          </a:solidFill>
                          <a:effectLst/>
                        </a:rPr>
                        <a:t>fuel</a:t>
                      </a:r>
                      <a:endParaRPr lang="en-IN" dirty="0">
                        <a:solidFill>
                          <a:srgbClr val="1F1F1F"/>
                        </a:solidFill>
                        <a:effectLst/>
                        <a:latin typeface="Google Sans Text"/>
                      </a:endParaRPr>
                    </a:p>
                  </a:txBody>
                  <a:tcPr marT="60960" marB="60960" anchor="ctr"/>
                </a:tc>
                <a:tc>
                  <a:txBody>
                    <a:bodyPr/>
                    <a:lstStyle/>
                    <a:p>
                      <a:pPr rtl="0">
                        <a:buNone/>
                      </a:pPr>
                      <a:r>
                        <a:rPr lang="en-US">
                          <a:solidFill>
                            <a:srgbClr val="1F1F1F"/>
                          </a:solidFill>
                          <a:effectLst/>
                        </a:rPr>
                        <a:t>The category of fuel the car consumes.</a:t>
                      </a:r>
                      <a:endParaRPr lang="en-US">
                        <a:solidFill>
                          <a:srgbClr val="1F1F1F"/>
                        </a:solidFill>
                        <a:effectLst/>
                        <a:latin typeface="Google Sans Text"/>
                      </a:endParaRPr>
                    </a:p>
                  </a:txBody>
                  <a:tcPr marT="60960" marB="60960" anchor="ctr"/>
                </a:tc>
                <a:tc>
                  <a:txBody>
                    <a:bodyPr/>
                    <a:lstStyle/>
                    <a:p>
                      <a:pPr rtl="0">
                        <a:buNone/>
                      </a:pPr>
                      <a:r>
                        <a:rPr lang="en-IN">
                          <a:solidFill>
                            <a:srgbClr val="444746"/>
                          </a:solidFill>
                          <a:effectLst/>
                        </a:rPr>
                        <a:t>Petrol</a:t>
                      </a:r>
                      <a:r>
                        <a:rPr lang="en-IN">
                          <a:solidFill>
                            <a:srgbClr val="1F1F1F"/>
                          </a:solidFill>
                          <a:effectLst/>
                        </a:rPr>
                        <a:t>, </a:t>
                      </a:r>
                      <a:r>
                        <a:rPr lang="en-IN">
                          <a:solidFill>
                            <a:srgbClr val="444746"/>
                          </a:solidFill>
                          <a:effectLst/>
                        </a:rPr>
                        <a:t>Diesel</a:t>
                      </a:r>
                      <a:r>
                        <a:rPr lang="en-IN">
                          <a:solidFill>
                            <a:srgbClr val="1F1F1F"/>
                          </a:solidFill>
                          <a:effectLst/>
                        </a:rPr>
                        <a:t>, </a:t>
                      </a:r>
                      <a:r>
                        <a:rPr lang="en-IN">
                          <a:solidFill>
                            <a:srgbClr val="444746"/>
                          </a:solidFill>
                          <a:effectLst/>
                        </a:rPr>
                        <a:t>CNG</a:t>
                      </a:r>
                      <a:endParaRPr lang="en-IN">
                        <a:solidFill>
                          <a:srgbClr val="1F1F1F"/>
                        </a:solidFill>
                        <a:effectLst/>
                        <a:latin typeface="Google Sans Text"/>
                      </a:endParaRPr>
                    </a:p>
                  </a:txBody>
                  <a:tcPr marT="60960" marB="60960" anchor="ctr"/>
                </a:tc>
                <a:extLst>
                  <a:ext uri="{0D108BD9-81ED-4DB2-BD59-A6C34878D82A}">
                    <a16:rowId xmlns:a16="http://schemas.microsoft.com/office/drawing/2014/main" val="2438817667"/>
                  </a:ext>
                </a:extLst>
              </a:tr>
              <a:tr h="319922">
                <a:tc>
                  <a:txBody>
                    <a:bodyPr/>
                    <a:lstStyle/>
                    <a:p>
                      <a:pPr rtl="0">
                        <a:buNone/>
                      </a:pPr>
                      <a:r>
                        <a:rPr lang="en-IN" b="1">
                          <a:solidFill>
                            <a:srgbClr val="1F1F1F"/>
                          </a:solidFill>
                          <a:effectLst/>
                        </a:rPr>
                        <a:t>transmission</a:t>
                      </a:r>
                      <a:endParaRPr lang="en-IN">
                        <a:solidFill>
                          <a:srgbClr val="1F1F1F"/>
                        </a:solidFill>
                        <a:effectLst/>
                        <a:latin typeface="Google Sans Text"/>
                      </a:endParaRPr>
                    </a:p>
                  </a:txBody>
                  <a:tcPr marT="60960" marB="60960" anchor="ctr"/>
                </a:tc>
                <a:tc>
                  <a:txBody>
                    <a:bodyPr/>
                    <a:lstStyle/>
                    <a:p>
                      <a:pPr rtl="0">
                        <a:buNone/>
                      </a:pPr>
                      <a:r>
                        <a:rPr lang="en-US">
                          <a:solidFill>
                            <a:srgbClr val="1F1F1F"/>
                          </a:solidFill>
                          <a:effectLst/>
                        </a:rPr>
                        <a:t>The type of gearbox (Manual or Automatic).</a:t>
                      </a:r>
                      <a:endParaRPr lang="en-US">
                        <a:solidFill>
                          <a:srgbClr val="1F1F1F"/>
                        </a:solidFill>
                        <a:effectLst/>
                        <a:latin typeface="Google Sans Text"/>
                      </a:endParaRPr>
                    </a:p>
                  </a:txBody>
                  <a:tcPr marT="60960" marB="60960" anchor="ctr"/>
                </a:tc>
                <a:tc>
                  <a:txBody>
                    <a:bodyPr/>
                    <a:lstStyle/>
                    <a:p>
                      <a:pPr rtl="0">
                        <a:buNone/>
                      </a:pPr>
                      <a:r>
                        <a:rPr lang="en-IN" dirty="0">
                          <a:solidFill>
                            <a:srgbClr val="444746"/>
                          </a:solidFill>
                          <a:effectLst/>
                        </a:rPr>
                        <a:t>Manual</a:t>
                      </a:r>
                      <a:r>
                        <a:rPr lang="en-IN" dirty="0">
                          <a:solidFill>
                            <a:srgbClr val="1F1F1F"/>
                          </a:solidFill>
                          <a:effectLst/>
                        </a:rPr>
                        <a:t>, </a:t>
                      </a:r>
                      <a:r>
                        <a:rPr lang="en-IN" dirty="0">
                          <a:solidFill>
                            <a:srgbClr val="444746"/>
                          </a:solidFill>
                          <a:effectLst/>
                        </a:rPr>
                        <a:t>Auto</a:t>
                      </a:r>
                      <a:endParaRPr lang="en-IN" dirty="0">
                        <a:solidFill>
                          <a:srgbClr val="1F1F1F"/>
                        </a:solidFill>
                        <a:effectLst/>
                        <a:latin typeface="Google Sans Text"/>
                      </a:endParaRPr>
                    </a:p>
                  </a:txBody>
                  <a:tcPr marT="60960" marB="60960" anchor="ctr"/>
                </a:tc>
                <a:extLst>
                  <a:ext uri="{0D108BD9-81ED-4DB2-BD59-A6C34878D82A}">
                    <a16:rowId xmlns:a16="http://schemas.microsoft.com/office/drawing/2014/main" val="1186847820"/>
                  </a:ext>
                </a:extLst>
              </a:tr>
              <a:tr h="319922">
                <a:tc>
                  <a:txBody>
                    <a:bodyPr/>
                    <a:lstStyle/>
                    <a:p>
                      <a:pPr rtl="0">
                        <a:buNone/>
                      </a:pPr>
                      <a:r>
                        <a:rPr lang="en-IN" b="1">
                          <a:solidFill>
                            <a:srgbClr val="1F1F1F"/>
                          </a:solidFill>
                          <a:effectLst/>
                        </a:rPr>
                        <a:t>registration</a:t>
                      </a:r>
                      <a:endParaRPr lang="en-IN">
                        <a:solidFill>
                          <a:srgbClr val="1F1F1F"/>
                        </a:solidFill>
                        <a:effectLst/>
                        <a:latin typeface="Google Sans Text"/>
                      </a:endParaRPr>
                    </a:p>
                  </a:txBody>
                  <a:tcPr marT="60960" marB="60960" anchor="ctr"/>
                </a:tc>
                <a:tc>
                  <a:txBody>
                    <a:bodyPr/>
                    <a:lstStyle/>
                    <a:p>
                      <a:pPr rtl="0">
                        <a:buNone/>
                      </a:pPr>
                      <a:r>
                        <a:rPr lang="en-US">
                          <a:solidFill>
                            <a:srgbClr val="1F1F1F"/>
                          </a:solidFill>
                          <a:effectLst/>
                        </a:rPr>
                        <a:t>The RTO state and district code of the vehicle.</a:t>
                      </a:r>
                      <a:endParaRPr lang="en-US">
                        <a:solidFill>
                          <a:srgbClr val="1F1F1F"/>
                        </a:solidFill>
                        <a:effectLst/>
                        <a:latin typeface="Google Sans Text"/>
                      </a:endParaRPr>
                    </a:p>
                  </a:txBody>
                  <a:tcPr marT="60960" marB="60960" anchor="ctr"/>
                </a:tc>
                <a:tc>
                  <a:txBody>
                    <a:bodyPr/>
                    <a:lstStyle/>
                    <a:p>
                      <a:pPr rtl="0">
                        <a:buNone/>
                      </a:pPr>
                      <a:r>
                        <a:rPr lang="en-IN">
                          <a:solidFill>
                            <a:srgbClr val="444746"/>
                          </a:solidFill>
                          <a:effectLst/>
                        </a:rPr>
                        <a:t>DL-7C</a:t>
                      </a:r>
                      <a:r>
                        <a:rPr lang="en-IN">
                          <a:solidFill>
                            <a:srgbClr val="1F1F1F"/>
                          </a:solidFill>
                          <a:effectLst/>
                        </a:rPr>
                        <a:t>, </a:t>
                      </a:r>
                      <a:r>
                        <a:rPr lang="en-IN">
                          <a:solidFill>
                            <a:srgbClr val="444746"/>
                          </a:solidFill>
                          <a:effectLst/>
                        </a:rPr>
                        <a:t>HR-26</a:t>
                      </a:r>
                      <a:endParaRPr lang="en-IN">
                        <a:solidFill>
                          <a:srgbClr val="1F1F1F"/>
                        </a:solidFill>
                        <a:effectLst/>
                        <a:latin typeface="Google Sans Text"/>
                      </a:endParaRPr>
                    </a:p>
                  </a:txBody>
                  <a:tcPr marT="60960" marB="60960" anchor="ctr"/>
                </a:tc>
                <a:extLst>
                  <a:ext uri="{0D108BD9-81ED-4DB2-BD59-A6C34878D82A}">
                    <a16:rowId xmlns:a16="http://schemas.microsoft.com/office/drawing/2014/main" val="2022795290"/>
                  </a:ext>
                </a:extLst>
              </a:tr>
              <a:tr h="523509">
                <a:tc>
                  <a:txBody>
                    <a:bodyPr/>
                    <a:lstStyle/>
                    <a:p>
                      <a:pPr rtl="0">
                        <a:buNone/>
                      </a:pPr>
                      <a:r>
                        <a:rPr lang="en-IN" b="1">
                          <a:solidFill>
                            <a:srgbClr val="1F1F1F"/>
                          </a:solidFill>
                          <a:effectLst/>
                        </a:rPr>
                        <a:t>price</a:t>
                      </a:r>
                      <a:endParaRPr lang="en-IN">
                        <a:solidFill>
                          <a:srgbClr val="1F1F1F"/>
                        </a:solidFill>
                        <a:effectLst/>
                        <a:latin typeface="Google Sans Text"/>
                      </a:endParaRPr>
                    </a:p>
                  </a:txBody>
                  <a:tcPr marT="60960" marB="60960" anchor="ctr"/>
                </a:tc>
                <a:tc>
                  <a:txBody>
                    <a:bodyPr/>
                    <a:lstStyle/>
                    <a:p>
                      <a:pPr rtl="0">
                        <a:buNone/>
                      </a:pPr>
                      <a:r>
                        <a:rPr lang="en-US">
                          <a:solidFill>
                            <a:srgbClr val="1F1F1F"/>
                          </a:solidFill>
                          <a:effectLst/>
                        </a:rPr>
                        <a:t>The listed asking price (scraped as a descriptive string).</a:t>
                      </a:r>
                      <a:endParaRPr lang="en-US">
                        <a:solidFill>
                          <a:srgbClr val="1F1F1F"/>
                        </a:solidFill>
                        <a:effectLst/>
                        <a:latin typeface="Google Sans Text"/>
                      </a:endParaRPr>
                    </a:p>
                  </a:txBody>
                  <a:tcPr marT="60960" marB="60960" anchor="ctr"/>
                </a:tc>
                <a:tc>
                  <a:txBody>
                    <a:bodyPr/>
                    <a:lstStyle/>
                    <a:p>
                      <a:pPr rtl="0">
                        <a:buNone/>
                      </a:pPr>
                      <a:r>
                        <a:rPr lang="en-IN">
                          <a:solidFill>
                            <a:srgbClr val="444746"/>
                          </a:solidFill>
                          <a:effectLst/>
                        </a:rPr>
                        <a:t>₹9.40 lakh</a:t>
                      </a:r>
                      <a:endParaRPr lang="en-IN">
                        <a:solidFill>
                          <a:srgbClr val="1F1F1F"/>
                        </a:solidFill>
                        <a:effectLst/>
                        <a:latin typeface="Google Sans Text"/>
                      </a:endParaRPr>
                    </a:p>
                  </a:txBody>
                  <a:tcPr marT="60960" marB="60960" anchor="ctr"/>
                </a:tc>
                <a:extLst>
                  <a:ext uri="{0D108BD9-81ED-4DB2-BD59-A6C34878D82A}">
                    <a16:rowId xmlns:a16="http://schemas.microsoft.com/office/drawing/2014/main" val="3329605632"/>
                  </a:ext>
                </a:extLst>
              </a:tr>
              <a:tr h="319922">
                <a:tc>
                  <a:txBody>
                    <a:bodyPr/>
                    <a:lstStyle/>
                    <a:p>
                      <a:pPr rtl="0">
                        <a:buNone/>
                      </a:pPr>
                      <a:r>
                        <a:rPr lang="en-IN" b="1">
                          <a:solidFill>
                            <a:srgbClr val="1F1F1F"/>
                          </a:solidFill>
                          <a:effectLst/>
                        </a:rPr>
                        <a:t>location</a:t>
                      </a:r>
                      <a:endParaRPr lang="en-IN">
                        <a:solidFill>
                          <a:srgbClr val="1F1F1F"/>
                        </a:solidFill>
                        <a:effectLst/>
                        <a:latin typeface="Google Sans Text"/>
                      </a:endParaRPr>
                    </a:p>
                  </a:txBody>
                  <a:tcPr marT="60960" marB="60960" anchor="ctr"/>
                </a:tc>
                <a:tc>
                  <a:txBody>
                    <a:bodyPr/>
                    <a:lstStyle/>
                    <a:p>
                      <a:pPr rtl="0">
                        <a:buNone/>
                      </a:pPr>
                      <a:r>
                        <a:rPr lang="en-US">
                          <a:solidFill>
                            <a:srgbClr val="1F1F1F"/>
                          </a:solidFill>
                          <a:effectLst/>
                        </a:rPr>
                        <a:t>The geographical city where the listing is active.</a:t>
                      </a:r>
                      <a:endParaRPr lang="en-US">
                        <a:solidFill>
                          <a:srgbClr val="1F1F1F"/>
                        </a:solidFill>
                        <a:effectLst/>
                        <a:latin typeface="Google Sans Text"/>
                      </a:endParaRPr>
                    </a:p>
                  </a:txBody>
                  <a:tcPr marT="60960" marB="60960" anchor="ctr"/>
                </a:tc>
                <a:tc>
                  <a:txBody>
                    <a:bodyPr/>
                    <a:lstStyle/>
                    <a:p>
                      <a:pPr rtl="0">
                        <a:buNone/>
                      </a:pPr>
                      <a:r>
                        <a:rPr lang="en-IN" dirty="0">
                          <a:solidFill>
                            <a:srgbClr val="444746"/>
                          </a:solidFill>
                          <a:effectLst/>
                        </a:rPr>
                        <a:t>new-</a:t>
                      </a:r>
                      <a:r>
                        <a:rPr lang="en-IN" dirty="0" err="1">
                          <a:solidFill>
                            <a:srgbClr val="444746"/>
                          </a:solidFill>
                          <a:effectLst/>
                        </a:rPr>
                        <a:t>delhi</a:t>
                      </a:r>
                      <a:r>
                        <a:rPr lang="en-IN" dirty="0">
                          <a:solidFill>
                            <a:srgbClr val="1F1F1F"/>
                          </a:solidFill>
                          <a:effectLst/>
                        </a:rPr>
                        <a:t>, </a:t>
                      </a:r>
                      <a:r>
                        <a:rPr lang="en-IN" dirty="0" err="1">
                          <a:solidFill>
                            <a:srgbClr val="444746"/>
                          </a:solidFill>
                          <a:effectLst/>
                        </a:rPr>
                        <a:t>ghaziabad</a:t>
                      </a:r>
                      <a:endParaRPr lang="en-IN" dirty="0">
                        <a:solidFill>
                          <a:srgbClr val="1F1F1F"/>
                        </a:solidFill>
                        <a:effectLst/>
                        <a:latin typeface="Google Sans Text"/>
                      </a:endParaRPr>
                    </a:p>
                  </a:txBody>
                  <a:tcPr marT="60960" marB="60960" anchor="ctr"/>
                </a:tc>
                <a:extLst>
                  <a:ext uri="{0D108BD9-81ED-4DB2-BD59-A6C34878D82A}">
                    <a16:rowId xmlns:a16="http://schemas.microsoft.com/office/drawing/2014/main" val="2748160683"/>
                  </a:ext>
                </a:extLst>
              </a:tr>
            </a:tbl>
          </a:graphicData>
        </a:graphic>
      </p:graphicFrame>
      <p:sp>
        <p:nvSpPr>
          <p:cNvPr id="5" name="TextBox 4">
            <a:extLst>
              <a:ext uri="{FF2B5EF4-FFF2-40B4-BE49-F238E27FC236}">
                <a16:creationId xmlns:a16="http://schemas.microsoft.com/office/drawing/2014/main" id="{7B1635C0-1A30-0932-4791-BE03C0D984A6}"/>
              </a:ext>
            </a:extLst>
          </p:cNvPr>
          <p:cNvSpPr txBox="1"/>
          <p:nvPr/>
        </p:nvSpPr>
        <p:spPr>
          <a:xfrm>
            <a:off x="978877" y="957845"/>
            <a:ext cx="8397909" cy="923330"/>
          </a:xfrm>
          <a:prstGeom prst="rect">
            <a:avLst/>
          </a:prstGeom>
          <a:noFill/>
        </p:spPr>
        <p:txBody>
          <a:bodyPr wrap="square">
            <a:spAutoFit/>
          </a:bodyPr>
          <a:lstStyle/>
          <a:p>
            <a:pPr lvl="1"/>
            <a:r>
              <a:rPr lang="en-US" sz="1800" b="1" dirty="0">
                <a:latin typeface="Times New Roman" panose="02020603050405020304" pitchFamily="18" charset="0"/>
                <a:cs typeface="Times New Roman" panose="02020603050405020304" pitchFamily="18" charset="0"/>
              </a:rPr>
              <a:t>Data Understanding (Raw Dataset):</a:t>
            </a:r>
          </a:p>
          <a:p>
            <a:pPr lvl="1"/>
            <a:r>
              <a:rPr lang="en-US" sz="1800" dirty="0">
                <a:latin typeface="Times New Roman" panose="02020603050405020304" pitchFamily="18" charset="0"/>
                <a:cs typeface="Times New Roman" panose="02020603050405020304" pitchFamily="18" charset="0"/>
              </a:rPr>
              <a:t>	This table defines the structure of the unstructured data extracted from CARS24 before the cleaning process began.</a:t>
            </a:r>
          </a:p>
        </p:txBody>
      </p:sp>
    </p:spTree>
    <p:extLst>
      <p:ext uri="{BB962C8B-B14F-4D97-AF65-F5344CB8AC3E}">
        <p14:creationId xmlns:p14="http://schemas.microsoft.com/office/powerpoint/2010/main" val="2122308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D4512-887A-634F-FBF2-1C7E6DE729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F8848A-5CE4-DBCD-776F-D03BEDC9F21D}"/>
              </a:ext>
            </a:extLst>
          </p:cNvPr>
          <p:cNvSpPr txBox="1"/>
          <p:nvPr/>
        </p:nvSpPr>
        <p:spPr>
          <a:xfrm>
            <a:off x="442127" y="291402"/>
            <a:ext cx="1146182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Data Pre-Processing</a:t>
            </a:r>
          </a:p>
        </p:txBody>
      </p:sp>
      <p:sp>
        <p:nvSpPr>
          <p:cNvPr id="8" name="TextBox 7">
            <a:extLst>
              <a:ext uri="{FF2B5EF4-FFF2-40B4-BE49-F238E27FC236}">
                <a16:creationId xmlns:a16="http://schemas.microsoft.com/office/drawing/2014/main" id="{32E5B38F-97BB-D4CD-CC58-18663A00D97B}"/>
              </a:ext>
            </a:extLst>
          </p:cNvPr>
          <p:cNvSpPr txBox="1"/>
          <p:nvPr/>
        </p:nvSpPr>
        <p:spPr>
          <a:xfrm>
            <a:off x="747764" y="1022668"/>
            <a:ext cx="9099621" cy="1754326"/>
          </a:xfrm>
          <a:prstGeom prst="rect">
            <a:avLst/>
          </a:prstGeom>
          <a:noFill/>
        </p:spPr>
        <p:txBody>
          <a:bodyPr wrap="square">
            <a:spAutoFit/>
          </a:bodyPr>
          <a:lstStyle/>
          <a:p>
            <a:pPr>
              <a:buNone/>
            </a:pPr>
            <a:r>
              <a:rPr lang="en-IN" sz="1800" b="1" dirty="0">
                <a:latin typeface="Times New Roman" panose="02020603050405020304" pitchFamily="18" charset="0"/>
                <a:cs typeface="Times New Roman" panose="02020603050405020304" pitchFamily="18" charset="0"/>
              </a:rPr>
              <a:t>Cleaning &amp; Standardization</a:t>
            </a:r>
            <a:endParaRPr lang="en-IN"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Numerical Conversion: Standardized Price (e.g., </a:t>
            </a:r>
            <a:r>
              <a:rPr lang="en-IN" sz="1800" i="1" dirty="0">
                <a:latin typeface="Times New Roman" panose="02020603050405020304" pitchFamily="18" charset="0"/>
                <a:cs typeface="Times New Roman" panose="02020603050405020304" pitchFamily="18" charset="0"/>
              </a:rPr>
              <a:t>₹9.4L</a:t>
            </a:r>
            <a:r>
              <a:rPr lang="en-IN" sz="1800" dirty="0">
                <a:latin typeface="Times New Roman" panose="02020603050405020304" pitchFamily="18" charset="0"/>
                <a:cs typeface="Times New Roman" panose="02020603050405020304" pitchFamily="18" charset="0"/>
              </a:rPr>
              <a:t> → </a:t>
            </a:r>
            <a:r>
              <a:rPr lang="en-IN" sz="1800" i="1" dirty="0">
                <a:latin typeface="Times New Roman" panose="02020603050405020304" pitchFamily="18" charset="0"/>
                <a:cs typeface="Times New Roman" panose="02020603050405020304" pitchFamily="18" charset="0"/>
              </a:rPr>
              <a:t>940,000</a:t>
            </a:r>
            <a:r>
              <a:rPr lang="en-IN" sz="1800" dirty="0">
                <a:latin typeface="Times New Roman" panose="02020603050405020304" pitchFamily="18" charset="0"/>
                <a:cs typeface="Times New Roman" panose="02020603050405020304" pitchFamily="18" charset="0"/>
              </a:rPr>
              <a:t>) and KM (removed "km" and commas) for mathematical analysis.</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Missing Values (BH Series): Null registrations were replaced with 'BH' (Bharat Series).</a:t>
            </a:r>
          </a:p>
          <a:p>
            <a:pPr marL="742950" lvl="1" indent="-285750">
              <a:buFont typeface="Arial" panose="020B0604020202020204" pitchFamily="34" charset="0"/>
              <a:buChar char="•"/>
            </a:pPr>
            <a:r>
              <a:rPr lang="en-IN" sz="1800" i="1" dirty="0">
                <a:latin typeface="Times New Roman" panose="02020603050405020304" pitchFamily="18" charset="0"/>
                <a:cs typeface="Times New Roman" panose="02020603050405020304" pitchFamily="18" charset="0"/>
              </a:rPr>
              <a:t>Logic:</a:t>
            </a:r>
            <a:r>
              <a:rPr lang="en-IN" sz="1800" dirty="0">
                <a:latin typeface="Times New Roman" panose="02020603050405020304" pitchFamily="18" charset="0"/>
                <a:cs typeface="Times New Roman" panose="02020603050405020304" pitchFamily="18" charset="0"/>
              </a:rPr>
              <a:t> Represents high-mobility corporate/govt vehicles; serves as a logical proxy for unlisted state codes.</a:t>
            </a:r>
          </a:p>
        </p:txBody>
      </p:sp>
      <p:sp>
        <p:nvSpPr>
          <p:cNvPr id="6" name="TextBox 5">
            <a:extLst>
              <a:ext uri="{FF2B5EF4-FFF2-40B4-BE49-F238E27FC236}">
                <a16:creationId xmlns:a16="http://schemas.microsoft.com/office/drawing/2014/main" id="{01CD993D-67EB-A821-8E88-6F8B744B59F9}"/>
              </a:ext>
            </a:extLst>
          </p:cNvPr>
          <p:cNvSpPr txBox="1"/>
          <p:nvPr/>
        </p:nvSpPr>
        <p:spPr>
          <a:xfrm>
            <a:off x="747764" y="2776994"/>
            <a:ext cx="9019234" cy="2862322"/>
          </a:xfrm>
          <a:prstGeom prst="rect">
            <a:avLst/>
          </a:prstGeom>
          <a:noFill/>
        </p:spPr>
        <p:txBody>
          <a:bodyPr wrap="square">
            <a:spAutoFit/>
          </a:bodyPr>
          <a:lstStyle/>
          <a:p>
            <a:pPr>
              <a:buNone/>
            </a:pPr>
            <a:r>
              <a:rPr lang="en-US" sz="1800" b="1" dirty="0">
                <a:latin typeface="Times New Roman" panose="02020603050405020304" pitchFamily="18" charset="0"/>
                <a:cs typeface="Times New Roman" panose="02020603050405020304" pitchFamily="18" charset="0"/>
              </a:rPr>
              <a:t>Feature Engineering</a:t>
            </a: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Decomposition: Split raw car text into three specific features: Year, Brand, and Model.</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Regional Tagging: Extracted State Codes (e.g., DL, HR, UP) from RTO strings to analyze location-based pricing.</a:t>
            </a:r>
          </a:p>
          <a:p>
            <a:pPr>
              <a:buNone/>
            </a:pPr>
            <a:r>
              <a:rPr lang="en-US" sz="1800" b="1" dirty="0">
                <a:latin typeface="Times New Roman" panose="02020603050405020304" pitchFamily="18" charset="0"/>
                <a:cs typeface="Times New Roman" panose="02020603050405020304" pitchFamily="18" charset="0"/>
              </a:rPr>
              <a:t>Strategic Filtering </a:t>
            </a: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Price Cap (≤ ₹10 Lakhs): Excluded luxury vehicles to focus on the "Sweet Spot" of middle-class affordability.</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Mileage Cap (≤ 1.6L KM): Removed "Scrap Yard" cars. Vehicles exceeding this mileage are avoided due to high maintenance costs and low utility.</a:t>
            </a:r>
          </a:p>
          <a:p>
            <a:pPr>
              <a:buNone/>
            </a:pPr>
            <a:r>
              <a:rPr lang="en-US" sz="1800" b="1" dirty="0">
                <a:latin typeface="Times New Roman" panose="02020603050405020304" pitchFamily="18" charset="0"/>
                <a:cs typeface="Times New Roman" panose="02020603050405020304" pitchFamily="18" charset="0"/>
              </a:rPr>
              <a:t>Final Dataset:</a:t>
            </a:r>
            <a:r>
              <a:rPr lang="en-US" sz="1800" dirty="0">
                <a:latin typeface="Times New Roman" panose="02020603050405020304" pitchFamily="18" charset="0"/>
                <a:cs typeface="Times New Roman" panose="02020603050405020304" pitchFamily="18" charset="0"/>
              </a:rPr>
              <a:t> Refined from 5,832 to 5,288 high-value entries for targeted analysis.</a:t>
            </a:r>
          </a:p>
        </p:txBody>
      </p:sp>
    </p:spTree>
    <p:extLst>
      <p:ext uri="{BB962C8B-B14F-4D97-AF65-F5344CB8AC3E}">
        <p14:creationId xmlns:p14="http://schemas.microsoft.com/office/powerpoint/2010/main" val="3122147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07754-FEE5-1FFC-2E5D-FBE361F32FF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AA176F-371D-6838-BA6B-4F91F9028276}"/>
              </a:ext>
            </a:extLst>
          </p:cNvPr>
          <p:cNvSpPr txBox="1"/>
          <p:nvPr/>
        </p:nvSpPr>
        <p:spPr>
          <a:xfrm>
            <a:off x="442127" y="291402"/>
            <a:ext cx="1146182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Exploratory Data Analysis</a:t>
            </a:r>
          </a:p>
        </p:txBody>
      </p:sp>
      <p:sp>
        <p:nvSpPr>
          <p:cNvPr id="3" name="TextBox 2">
            <a:extLst>
              <a:ext uri="{FF2B5EF4-FFF2-40B4-BE49-F238E27FC236}">
                <a16:creationId xmlns:a16="http://schemas.microsoft.com/office/drawing/2014/main" id="{E2AEE8DB-9142-C730-1BD1-FD45E427871D}"/>
              </a:ext>
            </a:extLst>
          </p:cNvPr>
          <p:cNvSpPr txBox="1"/>
          <p:nvPr/>
        </p:nvSpPr>
        <p:spPr>
          <a:xfrm>
            <a:off x="934497" y="1024932"/>
            <a:ext cx="6179736" cy="461665"/>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UNI-Variant Analysis</a:t>
            </a:r>
          </a:p>
        </p:txBody>
      </p:sp>
      <p:pic>
        <p:nvPicPr>
          <p:cNvPr id="5" name="Picture 4">
            <a:extLst>
              <a:ext uri="{FF2B5EF4-FFF2-40B4-BE49-F238E27FC236}">
                <a16:creationId xmlns:a16="http://schemas.microsoft.com/office/drawing/2014/main" id="{4E2BB16F-6078-2CAA-D578-4415D42ABBCE}"/>
              </a:ext>
            </a:extLst>
          </p:cNvPr>
          <p:cNvPicPr>
            <a:picLocks noChangeAspect="1"/>
          </p:cNvPicPr>
          <p:nvPr/>
        </p:nvPicPr>
        <p:blipFill>
          <a:blip r:embed="rId2"/>
          <a:stretch>
            <a:fillRect/>
          </a:stretch>
        </p:blipFill>
        <p:spPr>
          <a:xfrm>
            <a:off x="1027992" y="2799902"/>
            <a:ext cx="6086241" cy="3534628"/>
          </a:xfrm>
          <a:prstGeom prst="rect">
            <a:avLst/>
          </a:prstGeom>
        </p:spPr>
      </p:pic>
      <p:sp>
        <p:nvSpPr>
          <p:cNvPr id="8" name="TextBox 7">
            <a:extLst>
              <a:ext uri="{FF2B5EF4-FFF2-40B4-BE49-F238E27FC236}">
                <a16:creationId xmlns:a16="http://schemas.microsoft.com/office/drawing/2014/main" id="{A1EDC416-89B7-48AF-6916-741DD60C0CF5}"/>
              </a:ext>
            </a:extLst>
          </p:cNvPr>
          <p:cNvSpPr txBox="1"/>
          <p:nvPr/>
        </p:nvSpPr>
        <p:spPr>
          <a:xfrm>
            <a:off x="7488535" y="2799902"/>
            <a:ext cx="4288423" cy="1513235"/>
          </a:xfrm>
          <a:prstGeom prst="rect">
            <a:avLst/>
          </a:prstGeom>
          <a:noFill/>
        </p:spPr>
        <p:txBody>
          <a:bodyPr wrap="square">
            <a:spAutoFit/>
          </a:bodyPr>
          <a:lstStyle/>
          <a:p>
            <a:pPr algn="l">
              <a:spcBef>
                <a:spcPts val="756"/>
              </a:spcBef>
              <a:spcAft>
                <a:spcPts val="1008"/>
              </a:spcAft>
              <a:buNone/>
            </a:pPr>
            <a:r>
              <a:rPr lang="en-US" b="0" i="0" dirty="0">
                <a:effectLst/>
                <a:latin typeface="system-ui"/>
              </a:rPr>
              <a:t>Insights:</a:t>
            </a:r>
          </a:p>
          <a:p>
            <a:pPr algn="l">
              <a:buFont typeface="Arial" panose="020B0604020202020204" pitchFamily="34" charset="0"/>
              <a:buChar char="•"/>
            </a:pPr>
            <a:r>
              <a:rPr lang="en-US" b="0" i="0" dirty="0">
                <a:effectLst/>
                <a:latin typeface="system-ui"/>
              </a:rPr>
              <a:t>As seen earlier, Maruti and Hyundai will likely dominate.</a:t>
            </a:r>
          </a:p>
          <a:p>
            <a:pPr algn="l">
              <a:buFont typeface="Arial" panose="020B0604020202020204" pitchFamily="34" charset="0"/>
              <a:buChar char="•"/>
            </a:pPr>
            <a:r>
              <a:rPr lang="en-US" b="0" i="0" dirty="0">
                <a:effectLst/>
                <a:latin typeface="system-ui"/>
              </a:rPr>
              <a:t>If a customer wants a niche brand (like Skoda or Nissan), they have significantly fewer options to choose from.</a:t>
            </a:r>
          </a:p>
        </p:txBody>
      </p:sp>
      <p:sp>
        <p:nvSpPr>
          <p:cNvPr id="9" name="TextBox 8">
            <a:extLst>
              <a:ext uri="{FF2B5EF4-FFF2-40B4-BE49-F238E27FC236}">
                <a16:creationId xmlns:a16="http://schemas.microsoft.com/office/drawing/2014/main" id="{FE572178-9177-DEE2-11DA-6DF5C443347E}"/>
              </a:ext>
            </a:extLst>
          </p:cNvPr>
          <p:cNvSpPr txBox="1"/>
          <p:nvPr/>
        </p:nvSpPr>
        <p:spPr>
          <a:xfrm>
            <a:off x="1027992" y="1969477"/>
            <a:ext cx="10658241"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Which car brands are most readily available? Does the market favor specific manufacturers?</a:t>
            </a:r>
            <a:endParaRPr lang="en-IN" dirty="0"/>
          </a:p>
        </p:txBody>
      </p:sp>
    </p:spTree>
    <p:extLst>
      <p:ext uri="{BB962C8B-B14F-4D97-AF65-F5344CB8AC3E}">
        <p14:creationId xmlns:p14="http://schemas.microsoft.com/office/powerpoint/2010/main" val="3015378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AFD168-3684-AA10-6255-4C2B7A1C176D}"/>
              </a:ext>
            </a:extLst>
          </p:cNvPr>
          <p:cNvSpPr txBox="1"/>
          <p:nvPr/>
        </p:nvSpPr>
        <p:spPr>
          <a:xfrm>
            <a:off x="786284" y="215686"/>
            <a:ext cx="10698982" cy="646331"/>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What is the typical price range for a used car in this market? Are there many luxury/expensive cars, or is the market mostly budget-friendly?</a:t>
            </a:r>
          </a:p>
        </p:txBody>
      </p:sp>
      <p:pic>
        <p:nvPicPr>
          <p:cNvPr id="5" name="Picture 4">
            <a:extLst>
              <a:ext uri="{FF2B5EF4-FFF2-40B4-BE49-F238E27FC236}">
                <a16:creationId xmlns:a16="http://schemas.microsoft.com/office/drawing/2014/main" id="{4B6B5AFA-C217-15DE-2752-029BC1A2E20E}"/>
              </a:ext>
            </a:extLst>
          </p:cNvPr>
          <p:cNvPicPr>
            <a:picLocks noChangeAspect="1"/>
          </p:cNvPicPr>
          <p:nvPr/>
        </p:nvPicPr>
        <p:blipFill>
          <a:blip r:embed="rId2"/>
          <a:stretch>
            <a:fillRect/>
          </a:stretch>
        </p:blipFill>
        <p:spPr>
          <a:xfrm>
            <a:off x="786284" y="952154"/>
            <a:ext cx="6630325" cy="4953691"/>
          </a:xfrm>
          <a:prstGeom prst="rect">
            <a:avLst/>
          </a:prstGeom>
        </p:spPr>
      </p:pic>
      <p:sp>
        <p:nvSpPr>
          <p:cNvPr id="7" name="TextBox 6">
            <a:extLst>
              <a:ext uri="{FF2B5EF4-FFF2-40B4-BE49-F238E27FC236}">
                <a16:creationId xmlns:a16="http://schemas.microsoft.com/office/drawing/2014/main" id="{D6CB51BA-363F-859A-814E-DC8A9B64FD61}"/>
              </a:ext>
            </a:extLst>
          </p:cNvPr>
          <p:cNvSpPr txBox="1"/>
          <p:nvPr/>
        </p:nvSpPr>
        <p:spPr>
          <a:xfrm>
            <a:off x="7416610" y="2030011"/>
            <a:ext cx="4068656" cy="2585323"/>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Insights:</a:t>
            </a:r>
          </a:p>
          <a:p>
            <a:pPr marL="285750" indent="-28575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You will likely see a "tail" on the right side. This confirms the market is Right-Skewed, meaning there are many affordable cars (e.g., under ₹5 Lakh) and very few expensive ones.</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 The peak of the graph shows the most common budget range (likely ₹3L - ₹5L).</a:t>
            </a:r>
          </a:p>
        </p:txBody>
      </p:sp>
    </p:spTree>
    <p:extLst>
      <p:ext uri="{BB962C8B-B14F-4D97-AF65-F5344CB8AC3E}">
        <p14:creationId xmlns:p14="http://schemas.microsoft.com/office/powerpoint/2010/main" val="3358250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21FBC-96FB-3239-5DC7-90E87BE141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D69F14-28C0-E738-F3A9-7C91BB465BD1}"/>
              </a:ext>
            </a:extLst>
          </p:cNvPr>
          <p:cNvSpPr txBox="1"/>
          <p:nvPr/>
        </p:nvSpPr>
        <p:spPr>
          <a:xfrm>
            <a:off x="442127" y="291402"/>
            <a:ext cx="11461820" cy="461665"/>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Bi-Variant Analysis</a:t>
            </a:r>
          </a:p>
        </p:txBody>
      </p:sp>
      <p:sp>
        <p:nvSpPr>
          <p:cNvPr id="4" name="TextBox 3">
            <a:extLst>
              <a:ext uri="{FF2B5EF4-FFF2-40B4-BE49-F238E27FC236}">
                <a16:creationId xmlns:a16="http://schemas.microsoft.com/office/drawing/2014/main" id="{500A837A-6EA3-9627-B52B-D8F0AB41B0A3}"/>
              </a:ext>
            </a:extLst>
          </p:cNvPr>
          <p:cNvSpPr txBox="1"/>
          <p:nvPr/>
        </p:nvSpPr>
        <p:spPr>
          <a:xfrm>
            <a:off x="725993" y="1069796"/>
            <a:ext cx="9010860" cy="369332"/>
          </a:xfrm>
          <a:prstGeom prst="rect">
            <a:avLst/>
          </a:prstGeom>
          <a:noFill/>
        </p:spPr>
        <p:txBody>
          <a:bodyPr wrap="square">
            <a:spAutoFit/>
          </a:bodyPr>
          <a:lstStyle/>
          <a:p>
            <a:pPr algn="l">
              <a:spcBef>
                <a:spcPts val="907"/>
              </a:spcBef>
              <a:spcAft>
                <a:spcPts val="605"/>
              </a:spcAft>
              <a:buNone/>
            </a:pPr>
            <a:r>
              <a:rPr lang="en-US" sz="1800" b="0" i="0" dirty="0">
                <a:effectLst/>
                <a:latin typeface="Times New Roman" panose="02020603050405020304" pitchFamily="18" charset="0"/>
                <a:cs typeface="Times New Roman" panose="02020603050405020304" pitchFamily="18" charset="0"/>
              </a:rPr>
              <a:t>Does high mileage significantly reduce the car's price, or does the brand matter more?</a:t>
            </a:r>
          </a:p>
        </p:txBody>
      </p:sp>
      <p:pic>
        <p:nvPicPr>
          <p:cNvPr id="6" name="Picture 5">
            <a:extLst>
              <a:ext uri="{FF2B5EF4-FFF2-40B4-BE49-F238E27FC236}">
                <a16:creationId xmlns:a16="http://schemas.microsoft.com/office/drawing/2014/main" id="{C82591AF-A711-CD8C-C81C-A21005FE35BE}"/>
              </a:ext>
            </a:extLst>
          </p:cNvPr>
          <p:cNvPicPr>
            <a:picLocks noChangeAspect="1"/>
          </p:cNvPicPr>
          <p:nvPr/>
        </p:nvPicPr>
        <p:blipFill>
          <a:blip r:embed="rId2"/>
          <a:stretch>
            <a:fillRect/>
          </a:stretch>
        </p:blipFill>
        <p:spPr>
          <a:xfrm>
            <a:off x="725993" y="1882653"/>
            <a:ext cx="7737303" cy="4482714"/>
          </a:xfrm>
          <a:prstGeom prst="rect">
            <a:avLst/>
          </a:prstGeom>
        </p:spPr>
      </p:pic>
      <p:sp>
        <p:nvSpPr>
          <p:cNvPr id="8" name="TextBox 7">
            <a:extLst>
              <a:ext uri="{FF2B5EF4-FFF2-40B4-BE49-F238E27FC236}">
                <a16:creationId xmlns:a16="http://schemas.microsoft.com/office/drawing/2014/main" id="{B8362FC0-5884-58E7-E8BA-60525A901327}"/>
              </a:ext>
            </a:extLst>
          </p:cNvPr>
          <p:cNvSpPr txBox="1"/>
          <p:nvPr/>
        </p:nvSpPr>
        <p:spPr>
          <a:xfrm>
            <a:off x="8541099" y="2598338"/>
            <a:ext cx="3362848" cy="1873178"/>
          </a:xfrm>
          <a:prstGeom prst="rect">
            <a:avLst/>
          </a:prstGeom>
          <a:noFill/>
        </p:spPr>
        <p:txBody>
          <a:bodyPr wrap="square">
            <a:spAutoFit/>
          </a:bodyPr>
          <a:lstStyle/>
          <a:p>
            <a:pPr algn="l">
              <a:buNone/>
            </a:pPr>
            <a:r>
              <a:rPr lang="en-US" b="0" i="0" dirty="0">
                <a:effectLst/>
                <a:latin typeface="system-ui"/>
              </a:rPr>
              <a:t>Insight:</a:t>
            </a:r>
          </a:p>
          <a:p>
            <a:pPr algn="l">
              <a:buNone/>
            </a:pPr>
            <a:r>
              <a:rPr lang="en-US" b="0" i="0" dirty="0">
                <a:effectLst/>
                <a:latin typeface="system-ui"/>
              </a:rPr>
              <a:t>Negative Correlation: You will see a trend where price drops as KM increases (points moving down-right).</a:t>
            </a:r>
          </a:p>
          <a:p>
            <a:pPr algn="l">
              <a:buNone/>
            </a:pPr>
            <a:r>
              <a:rPr lang="en-US" b="0" i="0" dirty="0">
                <a:effectLst/>
                <a:latin typeface="system-ui"/>
              </a:rPr>
              <a:t>The "Safe" Zone: Most high-value cars will be clustered under 60,000 KM. Cars with over 1,00,000 KM usually sell for a "scrap" or base price regardless of the brand</a:t>
            </a:r>
          </a:p>
        </p:txBody>
      </p:sp>
    </p:spTree>
    <p:extLst>
      <p:ext uri="{BB962C8B-B14F-4D97-AF65-F5344CB8AC3E}">
        <p14:creationId xmlns:p14="http://schemas.microsoft.com/office/powerpoint/2010/main" val="2992167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1977EB-BE9C-3F07-0C4F-423C8CD77B6E}"/>
              </a:ext>
            </a:extLst>
          </p:cNvPr>
          <p:cNvSpPr txBox="1"/>
          <p:nvPr/>
        </p:nvSpPr>
        <p:spPr>
          <a:xfrm>
            <a:off x="575268" y="527186"/>
            <a:ext cx="8558684" cy="369332"/>
          </a:xfrm>
          <a:prstGeom prst="rect">
            <a:avLst/>
          </a:prstGeom>
          <a:noFill/>
        </p:spPr>
        <p:txBody>
          <a:bodyPr wrap="square">
            <a:spAutoFit/>
          </a:bodyPr>
          <a:lstStyle/>
          <a:p>
            <a:pPr algn="l">
              <a:spcBef>
                <a:spcPts val="907"/>
              </a:spcBef>
              <a:spcAft>
                <a:spcPts val="605"/>
              </a:spcAft>
              <a:buNone/>
            </a:pPr>
            <a:r>
              <a:rPr lang="en-US" sz="1800" b="0" i="0" dirty="0">
                <a:effectLst/>
                <a:latin typeface="Times New Roman" panose="02020603050405020304" pitchFamily="18" charset="0"/>
                <a:cs typeface="Times New Roman" panose="02020603050405020304" pitchFamily="18" charset="0"/>
              </a:rPr>
              <a:t>How rapidly does a car lose its value over time? At what age does the price stabilize?</a:t>
            </a:r>
          </a:p>
        </p:txBody>
      </p:sp>
      <p:pic>
        <p:nvPicPr>
          <p:cNvPr id="5" name="Picture 4">
            <a:extLst>
              <a:ext uri="{FF2B5EF4-FFF2-40B4-BE49-F238E27FC236}">
                <a16:creationId xmlns:a16="http://schemas.microsoft.com/office/drawing/2014/main" id="{B4B1A62D-972A-AFBC-AFA5-F161BEACD139}"/>
              </a:ext>
            </a:extLst>
          </p:cNvPr>
          <p:cNvPicPr>
            <a:picLocks noChangeAspect="1"/>
          </p:cNvPicPr>
          <p:nvPr/>
        </p:nvPicPr>
        <p:blipFill>
          <a:blip r:embed="rId2"/>
          <a:stretch>
            <a:fillRect/>
          </a:stretch>
        </p:blipFill>
        <p:spPr>
          <a:xfrm>
            <a:off x="575268" y="1099119"/>
            <a:ext cx="7815106" cy="4475259"/>
          </a:xfrm>
          <a:prstGeom prst="rect">
            <a:avLst/>
          </a:prstGeom>
        </p:spPr>
      </p:pic>
      <p:sp>
        <p:nvSpPr>
          <p:cNvPr id="7" name="TextBox 6">
            <a:extLst>
              <a:ext uri="{FF2B5EF4-FFF2-40B4-BE49-F238E27FC236}">
                <a16:creationId xmlns:a16="http://schemas.microsoft.com/office/drawing/2014/main" id="{B6A9B754-A506-6D9C-9D1F-F821DEE6BF32}"/>
              </a:ext>
            </a:extLst>
          </p:cNvPr>
          <p:cNvSpPr txBox="1"/>
          <p:nvPr/>
        </p:nvSpPr>
        <p:spPr>
          <a:xfrm>
            <a:off x="8149213" y="1874857"/>
            <a:ext cx="4042788" cy="2862322"/>
          </a:xfrm>
          <a:prstGeom prst="rect">
            <a:avLst/>
          </a:prstGeom>
          <a:noFill/>
        </p:spPr>
        <p:txBody>
          <a:bodyPr wrap="square">
            <a:spAutoFit/>
          </a:bodyPr>
          <a:lstStyle/>
          <a:p>
            <a:pPr algn="l">
              <a:buNone/>
            </a:pPr>
            <a:r>
              <a:rPr lang="en-US" sz="1800" b="0" i="0" dirty="0">
                <a:effectLst/>
                <a:latin typeface="Times New Roman" panose="02020603050405020304" pitchFamily="18" charset="0"/>
                <a:cs typeface="Times New Roman" panose="02020603050405020304" pitchFamily="18" charset="0"/>
              </a:rPr>
              <a:t>Insight:</a:t>
            </a:r>
          </a:p>
          <a:p>
            <a:pPr marL="285750" indent="-285750" algn="l">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Depreciation Curve: You should see a steep upward curve. Cars from 2020-2023 will likely have the highest prices.</a:t>
            </a:r>
          </a:p>
          <a:p>
            <a:pPr marL="285750" indent="-285750" algn="l">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Value Retention: Look at the years 2015-2017. If the line flattens out here, it means cars older than 7 years stop losing value quickly, making them good budget buys.</a:t>
            </a:r>
          </a:p>
        </p:txBody>
      </p:sp>
    </p:spTree>
    <p:extLst>
      <p:ext uri="{BB962C8B-B14F-4D97-AF65-F5344CB8AC3E}">
        <p14:creationId xmlns:p14="http://schemas.microsoft.com/office/powerpoint/2010/main" val="3404888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D65616-5738-6195-2AFE-65B2CE74303E}"/>
              </a:ext>
            </a:extLst>
          </p:cNvPr>
          <p:cNvSpPr txBox="1"/>
          <p:nvPr/>
        </p:nvSpPr>
        <p:spPr>
          <a:xfrm>
            <a:off x="715946" y="393747"/>
            <a:ext cx="7282542" cy="369332"/>
          </a:xfrm>
          <a:prstGeom prst="rect">
            <a:avLst/>
          </a:prstGeom>
          <a:noFill/>
        </p:spPr>
        <p:txBody>
          <a:bodyPr wrap="square">
            <a:spAutoFit/>
          </a:bodyPr>
          <a:lstStyle/>
          <a:p>
            <a:pPr algn="l">
              <a:spcBef>
                <a:spcPts val="907"/>
              </a:spcBef>
              <a:spcAft>
                <a:spcPts val="605"/>
              </a:spcAft>
              <a:buNone/>
            </a:pPr>
            <a:r>
              <a:rPr lang="en-US" sz="1800" b="0" i="0" dirty="0">
                <a:effectLst/>
                <a:latin typeface="Times New Roman" panose="02020603050405020304" pitchFamily="18" charset="0"/>
                <a:cs typeface="Times New Roman" panose="02020603050405020304" pitchFamily="18" charset="0"/>
              </a:rPr>
              <a:t>Which brands command a premium price in the second-hand market?</a:t>
            </a:r>
          </a:p>
        </p:txBody>
      </p:sp>
      <p:pic>
        <p:nvPicPr>
          <p:cNvPr id="5" name="Picture 4">
            <a:extLst>
              <a:ext uri="{FF2B5EF4-FFF2-40B4-BE49-F238E27FC236}">
                <a16:creationId xmlns:a16="http://schemas.microsoft.com/office/drawing/2014/main" id="{1BFCA28F-E56B-8A6C-1F93-3E392D93EBBA}"/>
              </a:ext>
            </a:extLst>
          </p:cNvPr>
          <p:cNvPicPr>
            <a:picLocks noChangeAspect="1"/>
          </p:cNvPicPr>
          <p:nvPr/>
        </p:nvPicPr>
        <p:blipFill>
          <a:blip r:embed="rId2"/>
          <a:stretch>
            <a:fillRect/>
          </a:stretch>
        </p:blipFill>
        <p:spPr>
          <a:xfrm>
            <a:off x="630611" y="950765"/>
            <a:ext cx="7453211" cy="4956469"/>
          </a:xfrm>
          <a:prstGeom prst="rect">
            <a:avLst/>
          </a:prstGeom>
        </p:spPr>
      </p:pic>
      <p:sp>
        <p:nvSpPr>
          <p:cNvPr id="7" name="TextBox 6">
            <a:extLst>
              <a:ext uri="{FF2B5EF4-FFF2-40B4-BE49-F238E27FC236}">
                <a16:creationId xmlns:a16="http://schemas.microsoft.com/office/drawing/2014/main" id="{3F14048A-0529-1B86-A29F-9B6911E5970B}"/>
              </a:ext>
            </a:extLst>
          </p:cNvPr>
          <p:cNvSpPr txBox="1"/>
          <p:nvPr/>
        </p:nvSpPr>
        <p:spPr>
          <a:xfrm>
            <a:off x="7877908" y="2548097"/>
            <a:ext cx="4314092" cy="3139321"/>
          </a:xfrm>
          <a:prstGeom prst="rect">
            <a:avLst/>
          </a:prstGeom>
          <a:noFill/>
        </p:spPr>
        <p:txBody>
          <a:bodyPr wrap="square">
            <a:spAutoFit/>
          </a:bodyPr>
          <a:lstStyle/>
          <a:p>
            <a:pPr algn="l">
              <a:buNone/>
            </a:pPr>
            <a:r>
              <a:rPr lang="en-US" sz="1800" b="1" i="0" dirty="0">
                <a:effectLst/>
                <a:latin typeface="Times New Roman" panose="02020603050405020304" pitchFamily="18" charset="0"/>
                <a:cs typeface="Times New Roman" panose="02020603050405020304" pitchFamily="18" charset="0"/>
              </a:rPr>
              <a:t>Insight:</a:t>
            </a:r>
          </a:p>
          <a:p>
            <a:pPr marL="285750" indent="-285750" algn="l">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Brand Hierarchy: The box plot sorts brands from most expensive (left) to cheapest (right). You will likely see Toyota, Honda, or Volkswagen on the higher end and Datsun or Renault on the lower end.</a:t>
            </a:r>
          </a:p>
          <a:p>
            <a:pPr marL="285750" indent="-285750" algn="l">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Price Variation: Longer boxes indicate that the brand has a mix of cheap and expensive models (e.g., Mahindra has both Bolero and XUV700).</a:t>
            </a:r>
          </a:p>
        </p:txBody>
      </p:sp>
    </p:spTree>
    <p:extLst>
      <p:ext uri="{BB962C8B-B14F-4D97-AF65-F5344CB8AC3E}">
        <p14:creationId xmlns:p14="http://schemas.microsoft.com/office/powerpoint/2010/main" val="2263835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9EB27A-2534-8710-C33C-C2AD4710C6FD}"/>
              </a:ext>
            </a:extLst>
          </p:cNvPr>
          <p:cNvPicPr>
            <a:picLocks noChangeAspect="1"/>
          </p:cNvPicPr>
          <p:nvPr/>
        </p:nvPicPr>
        <p:blipFill>
          <a:blip r:embed="rId2"/>
          <a:stretch>
            <a:fillRect/>
          </a:stretch>
        </p:blipFill>
        <p:spPr>
          <a:xfrm>
            <a:off x="653143" y="1299102"/>
            <a:ext cx="8589965" cy="4788039"/>
          </a:xfrm>
          <a:prstGeom prst="rect">
            <a:avLst/>
          </a:prstGeom>
        </p:spPr>
      </p:pic>
      <p:sp>
        <p:nvSpPr>
          <p:cNvPr id="5" name="TextBox 4">
            <a:extLst>
              <a:ext uri="{FF2B5EF4-FFF2-40B4-BE49-F238E27FC236}">
                <a16:creationId xmlns:a16="http://schemas.microsoft.com/office/drawing/2014/main" id="{D4FCE2C5-28A7-C2FD-27ED-6D27B950645C}"/>
              </a:ext>
            </a:extLst>
          </p:cNvPr>
          <p:cNvSpPr txBox="1"/>
          <p:nvPr/>
        </p:nvSpPr>
        <p:spPr>
          <a:xfrm>
            <a:off x="8691824" y="2982723"/>
            <a:ext cx="3500176" cy="1908215"/>
          </a:xfrm>
          <a:prstGeom prst="rect">
            <a:avLst/>
          </a:prstGeom>
          <a:noFill/>
        </p:spPr>
        <p:txBody>
          <a:bodyPr wrap="square">
            <a:spAutoFit/>
          </a:bodyPr>
          <a:lstStyle/>
          <a:p>
            <a:pPr algn="l">
              <a:spcBef>
                <a:spcPts val="907"/>
              </a:spcBef>
              <a:spcAft>
                <a:spcPts val="1210"/>
              </a:spcAft>
              <a:buNone/>
            </a:pPr>
            <a:r>
              <a:rPr lang="en-US" sz="1800" b="1" i="0" dirty="0">
                <a:effectLst/>
                <a:latin typeface="Times New Roman" panose="02020603050405020304" pitchFamily="18" charset="0"/>
                <a:cs typeface="Times New Roman" panose="02020603050405020304" pitchFamily="18" charset="0"/>
              </a:rPr>
              <a:t>Insights</a:t>
            </a:r>
          </a:p>
          <a:p>
            <a:pPr marL="285750" indent="-285750" algn="l">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Low Usage" cars and Normal usage cars are best sellers. They offer the customer a "good-as-new" feel without the premium price</a:t>
            </a:r>
          </a:p>
        </p:txBody>
      </p:sp>
      <p:sp>
        <p:nvSpPr>
          <p:cNvPr id="7" name="TextBox 6">
            <a:extLst>
              <a:ext uri="{FF2B5EF4-FFF2-40B4-BE49-F238E27FC236}">
                <a16:creationId xmlns:a16="http://schemas.microsoft.com/office/drawing/2014/main" id="{D66A47AC-2E00-3A81-5C35-40B0AD77028D}"/>
              </a:ext>
            </a:extLst>
          </p:cNvPr>
          <p:cNvSpPr txBox="1"/>
          <p:nvPr/>
        </p:nvSpPr>
        <p:spPr>
          <a:xfrm>
            <a:off x="919424" y="509249"/>
            <a:ext cx="11272576" cy="369332"/>
          </a:xfrm>
          <a:prstGeom prst="rect">
            <a:avLst/>
          </a:prstGeom>
          <a:noFill/>
        </p:spPr>
        <p:txBody>
          <a:bodyPr wrap="square">
            <a:spAutoFit/>
          </a:bodyPr>
          <a:lstStyle/>
          <a:p>
            <a:pPr algn="l">
              <a:spcBef>
                <a:spcPts val="907"/>
              </a:spcBef>
              <a:spcAft>
                <a:spcPts val="605"/>
              </a:spcAft>
              <a:buNone/>
            </a:pPr>
            <a:r>
              <a:rPr lang="en-US" sz="1800" b="0" i="0" dirty="0">
                <a:effectLst/>
                <a:latin typeface="Times New Roman" panose="02020603050405020304" pitchFamily="18" charset="0"/>
                <a:cs typeface="Times New Roman" panose="02020603050405020304" pitchFamily="18" charset="0"/>
              </a:rPr>
              <a:t>Can we create a custom category to identify Hidden Gems cars that are barely used but available at a second-hand price?</a:t>
            </a:r>
          </a:p>
        </p:txBody>
      </p:sp>
    </p:spTree>
    <p:extLst>
      <p:ext uri="{BB962C8B-B14F-4D97-AF65-F5344CB8AC3E}">
        <p14:creationId xmlns:p14="http://schemas.microsoft.com/office/powerpoint/2010/main" val="3434627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77702-ACC3-AFA6-5F42-BA6DF34FD66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F39750-53FC-3C3B-E304-2D393DD78019}"/>
              </a:ext>
            </a:extLst>
          </p:cNvPr>
          <p:cNvSpPr txBox="1"/>
          <p:nvPr/>
        </p:nvSpPr>
        <p:spPr>
          <a:xfrm>
            <a:off x="442128" y="356363"/>
            <a:ext cx="9623809"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Does the location (RTO) of the car affect its price? Are cars from Delhi or Mumbai priced differently?</a:t>
            </a:r>
          </a:p>
        </p:txBody>
      </p:sp>
      <p:sp>
        <p:nvSpPr>
          <p:cNvPr id="8" name="TextBox 7">
            <a:extLst>
              <a:ext uri="{FF2B5EF4-FFF2-40B4-BE49-F238E27FC236}">
                <a16:creationId xmlns:a16="http://schemas.microsoft.com/office/drawing/2014/main" id="{561E90ED-386A-676A-FC67-2996C2942409}"/>
              </a:ext>
            </a:extLst>
          </p:cNvPr>
          <p:cNvSpPr txBox="1"/>
          <p:nvPr/>
        </p:nvSpPr>
        <p:spPr>
          <a:xfrm>
            <a:off x="8541099" y="2598338"/>
            <a:ext cx="3362848" cy="2308324"/>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Insights:</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visualization confirms that Location is a Price Driver. A car registered in Karnataka commands a premium over an identical car registered in Delhi, driven by tax structures and regulatory lifespan limits</a:t>
            </a:r>
          </a:p>
        </p:txBody>
      </p:sp>
      <p:pic>
        <p:nvPicPr>
          <p:cNvPr id="5" name="Picture 4">
            <a:extLst>
              <a:ext uri="{FF2B5EF4-FFF2-40B4-BE49-F238E27FC236}">
                <a16:creationId xmlns:a16="http://schemas.microsoft.com/office/drawing/2014/main" id="{D47A68A7-AFB3-D6C4-521F-3A16E397F2D4}"/>
              </a:ext>
            </a:extLst>
          </p:cNvPr>
          <p:cNvPicPr>
            <a:picLocks noChangeAspect="1"/>
          </p:cNvPicPr>
          <p:nvPr/>
        </p:nvPicPr>
        <p:blipFill>
          <a:blip r:embed="rId2"/>
          <a:stretch>
            <a:fillRect/>
          </a:stretch>
        </p:blipFill>
        <p:spPr>
          <a:xfrm>
            <a:off x="442128" y="1125415"/>
            <a:ext cx="8098972" cy="4752871"/>
          </a:xfrm>
          <a:prstGeom prst="rect">
            <a:avLst/>
          </a:prstGeom>
        </p:spPr>
      </p:pic>
    </p:spTree>
    <p:extLst>
      <p:ext uri="{BB962C8B-B14F-4D97-AF65-F5344CB8AC3E}">
        <p14:creationId xmlns:p14="http://schemas.microsoft.com/office/powerpoint/2010/main" val="620789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28975-3712-5AFF-87C7-4A66C4ED4AF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4D06C4-A915-5F5B-7BAF-83505F5C6E2B}"/>
              </a:ext>
            </a:extLst>
          </p:cNvPr>
          <p:cNvSpPr txBox="1"/>
          <p:nvPr/>
        </p:nvSpPr>
        <p:spPr>
          <a:xfrm>
            <a:off x="442127" y="291402"/>
            <a:ext cx="11461820" cy="461665"/>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Multi-Variant Analysis</a:t>
            </a:r>
          </a:p>
        </p:txBody>
      </p:sp>
      <p:sp>
        <p:nvSpPr>
          <p:cNvPr id="4" name="TextBox 3">
            <a:extLst>
              <a:ext uri="{FF2B5EF4-FFF2-40B4-BE49-F238E27FC236}">
                <a16:creationId xmlns:a16="http://schemas.microsoft.com/office/drawing/2014/main" id="{EB55AE7A-91BF-D2BE-647E-5FEDD3623FE7}"/>
              </a:ext>
            </a:extLst>
          </p:cNvPr>
          <p:cNvSpPr txBox="1"/>
          <p:nvPr/>
        </p:nvSpPr>
        <p:spPr>
          <a:xfrm>
            <a:off x="725992" y="1069796"/>
            <a:ext cx="9623809"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What is the single biggest factor that determines the price of a used car?</a:t>
            </a:r>
          </a:p>
        </p:txBody>
      </p:sp>
      <p:pic>
        <p:nvPicPr>
          <p:cNvPr id="6" name="Picture 5">
            <a:extLst>
              <a:ext uri="{FF2B5EF4-FFF2-40B4-BE49-F238E27FC236}">
                <a16:creationId xmlns:a16="http://schemas.microsoft.com/office/drawing/2014/main" id="{D3EE7AE0-2D97-A91D-A946-B48923D2FB07}"/>
              </a:ext>
            </a:extLst>
          </p:cNvPr>
          <p:cNvPicPr>
            <a:picLocks noChangeAspect="1"/>
          </p:cNvPicPr>
          <p:nvPr/>
        </p:nvPicPr>
        <p:blipFill>
          <a:blip r:embed="rId2"/>
          <a:stretch>
            <a:fillRect/>
          </a:stretch>
        </p:blipFill>
        <p:spPr>
          <a:xfrm>
            <a:off x="633557" y="1547446"/>
            <a:ext cx="6925642" cy="5154805"/>
          </a:xfrm>
          <a:prstGeom prst="rect">
            <a:avLst/>
          </a:prstGeom>
        </p:spPr>
      </p:pic>
      <p:sp>
        <p:nvSpPr>
          <p:cNvPr id="9" name="TextBox 8">
            <a:extLst>
              <a:ext uri="{FF2B5EF4-FFF2-40B4-BE49-F238E27FC236}">
                <a16:creationId xmlns:a16="http://schemas.microsoft.com/office/drawing/2014/main" id="{80ADB079-7CA7-F187-5E03-44916A510E88}"/>
              </a:ext>
            </a:extLst>
          </p:cNvPr>
          <p:cNvSpPr txBox="1"/>
          <p:nvPr/>
        </p:nvSpPr>
        <p:spPr>
          <a:xfrm>
            <a:off x="7445828" y="2805524"/>
            <a:ext cx="4746171" cy="2713563"/>
          </a:xfrm>
          <a:prstGeom prst="rect">
            <a:avLst/>
          </a:prstGeom>
          <a:noFill/>
        </p:spPr>
        <p:txBody>
          <a:bodyPr wrap="square">
            <a:spAutoFit/>
          </a:bodyPr>
          <a:lstStyle/>
          <a:p>
            <a:pPr algn="l">
              <a:spcBef>
                <a:spcPts val="756"/>
              </a:spcBef>
              <a:spcAft>
                <a:spcPts val="1008"/>
              </a:spcAft>
              <a:buNone/>
            </a:pPr>
            <a:r>
              <a:rPr lang="en-US" sz="1800" b="0" i="0" dirty="0">
                <a:effectLst/>
                <a:latin typeface="Times New Roman" panose="02020603050405020304" pitchFamily="18" charset="0"/>
                <a:cs typeface="Times New Roman" panose="02020603050405020304" pitchFamily="18" charset="0"/>
              </a:rPr>
              <a:t>Insight:</a:t>
            </a:r>
          </a:p>
          <a:p>
            <a:pPr marL="285750" indent="-285750" algn="l">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Dominant Factor: Year has the strongest positive correlation (0.70) with Price. This confirms that age is the primary value driver.</a:t>
            </a:r>
          </a:p>
          <a:p>
            <a:pPr marL="285750" indent="-285750" algn="l">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Usage Impact: KM Driven has a negative correlation (-0.24). While significant, it is much weaker than the Year. This means a newer car with high mileage is often worth more than an older car with low mileage.</a:t>
            </a:r>
          </a:p>
        </p:txBody>
      </p:sp>
    </p:spTree>
    <p:extLst>
      <p:ext uri="{BB962C8B-B14F-4D97-AF65-F5344CB8AC3E}">
        <p14:creationId xmlns:p14="http://schemas.microsoft.com/office/powerpoint/2010/main" val="1364616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E67B77-4FD3-F1B7-DBB8-592C69F5F28B}"/>
              </a:ext>
            </a:extLst>
          </p:cNvPr>
          <p:cNvSpPr txBox="1"/>
          <p:nvPr/>
        </p:nvSpPr>
        <p:spPr>
          <a:xfrm>
            <a:off x="605413" y="544471"/>
            <a:ext cx="9774534"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Is the price gap between Automatic and Manual cars consistent, or does it widen for newer models?</a:t>
            </a:r>
          </a:p>
        </p:txBody>
      </p:sp>
      <p:pic>
        <p:nvPicPr>
          <p:cNvPr id="5" name="Picture 4">
            <a:extLst>
              <a:ext uri="{FF2B5EF4-FFF2-40B4-BE49-F238E27FC236}">
                <a16:creationId xmlns:a16="http://schemas.microsoft.com/office/drawing/2014/main" id="{5242CCFD-EA01-1E7D-00BF-DE267608CBBA}"/>
              </a:ext>
            </a:extLst>
          </p:cNvPr>
          <p:cNvPicPr>
            <a:picLocks noChangeAspect="1"/>
          </p:cNvPicPr>
          <p:nvPr/>
        </p:nvPicPr>
        <p:blipFill>
          <a:blip r:embed="rId2"/>
          <a:stretch>
            <a:fillRect/>
          </a:stretch>
        </p:blipFill>
        <p:spPr>
          <a:xfrm>
            <a:off x="605414" y="1188272"/>
            <a:ext cx="7764864" cy="5265933"/>
          </a:xfrm>
          <a:prstGeom prst="rect">
            <a:avLst/>
          </a:prstGeom>
        </p:spPr>
      </p:pic>
      <p:sp>
        <p:nvSpPr>
          <p:cNvPr id="7" name="TextBox 6">
            <a:extLst>
              <a:ext uri="{FF2B5EF4-FFF2-40B4-BE49-F238E27FC236}">
                <a16:creationId xmlns:a16="http://schemas.microsoft.com/office/drawing/2014/main" id="{1EB42562-7DD2-9147-8191-ADC58AF4B31C}"/>
              </a:ext>
            </a:extLst>
          </p:cNvPr>
          <p:cNvSpPr txBox="1"/>
          <p:nvPr/>
        </p:nvSpPr>
        <p:spPr>
          <a:xfrm>
            <a:off x="8139164" y="1910458"/>
            <a:ext cx="3932255" cy="3821559"/>
          </a:xfrm>
          <a:prstGeom prst="rect">
            <a:avLst/>
          </a:prstGeom>
          <a:noFill/>
        </p:spPr>
        <p:txBody>
          <a:bodyPr wrap="square">
            <a:spAutoFit/>
          </a:bodyPr>
          <a:lstStyle/>
          <a:p>
            <a:pPr algn="l">
              <a:spcBef>
                <a:spcPts val="756"/>
              </a:spcBef>
              <a:spcAft>
                <a:spcPts val="1008"/>
              </a:spcAft>
              <a:buNone/>
            </a:pPr>
            <a:r>
              <a:rPr lang="en-US" sz="1800" b="0" i="0" dirty="0">
                <a:effectLst/>
                <a:latin typeface="Times New Roman" panose="02020603050405020304" pitchFamily="18" charset="0"/>
                <a:cs typeface="Times New Roman" panose="02020603050405020304" pitchFamily="18" charset="0"/>
              </a:rPr>
              <a:t>Insight:</a:t>
            </a:r>
          </a:p>
          <a:p>
            <a:pPr marL="285750" indent="-285750" algn="l">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The "Auto" Premium: Across almost every year, the Automatic (blue line) sits higher than the Manual (orange line).</a:t>
            </a:r>
          </a:p>
          <a:p>
            <a:pPr marL="285750" indent="-285750" algn="l">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Widening Gap: Notice the years 2018-2020. The gap widens significantly (e.g., in 2019, Automatics median is ~₹6.1L vs Manuals ~₹4.6L). This suggests that demand for modern automatics is surging, allowing sellers to charge a ~30% premium on recent models.</a:t>
            </a:r>
          </a:p>
        </p:txBody>
      </p:sp>
    </p:spTree>
    <p:extLst>
      <p:ext uri="{BB962C8B-B14F-4D97-AF65-F5344CB8AC3E}">
        <p14:creationId xmlns:p14="http://schemas.microsoft.com/office/powerpoint/2010/main" val="1482589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17C61-9FFC-4846-66BB-03527A31A1C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972B6E-BEA5-5B9C-6DEC-A0CAAD4E714E}"/>
              </a:ext>
            </a:extLst>
          </p:cNvPr>
          <p:cNvSpPr txBox="1"/>
          <p:nvPr/>
        </p:nvSpPr>
        <p:spPr>
          <a:xfrm>
            <a:off x="442127" y="291402"/>
            <a:ext cx="1146182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Hypothesis Testing</a:t>
            </a:r>
          </a:p>
        </p:txBody>
      </p:sp>
      <p:sp>
        <p:nvSpPr>
          <p:cNvPr id="7" name="TextBox 6">
            <a:extLst>
              <a:ext uri="{FF2B5EF4-FFF2-40B4-BE49-F238E27FC236}">
                <a16:creationId xmlns:a16="http://schemas.microsoft.com/office/drawing/2014/main" id="{665FEF3A-6895-4717-376F-122F484DA9E8}"/>
              </a:ext>
            </a:extLst>
          </p:cNvPr>
          <p:cNvSpPr txBox="1"/>
          <p:nvPr/>
        </p:nvSpPr>
        <p:spPr>
          <a:xfrm>
            <a:off x="885929" y="1323261"/>
            <a:ext cx="11306071" cy="3693319"/>
          </a:xfrm>
          <a:prstGeom prst="rect">
            <a:avLst/>
          </a:prstGeom>
          <a:noFill/>
        </p:spPr>
        <p:txBody>
          <a:bodyPr wrap="square">
            <a:spAutoFit/>
          </a:bodyPr>
          <a:lstStyle/>
          <a:p>
            <a:pPr algn="l" latinLnBrk="1">
              <a:buNone/>
            </a:pPr>
            <a:r>
              <a:rPr lang="en-US" sz="1800" b="1" i="0" dirty="0">
                <a:effectLst/>
                <a:latin typeface="Times New Roman" panose="02020603050405020304" pitchFamily="18" charset="0"/>
                <a:cs typeface="Times New Roman" panose="02020603050405020304" pitchFamily="18" charset="0"/>
              </a:rPr>
              <a:t>Does the Fuel type (Petrol vs Diesel) significantly affect the car price?</a:t>
            </a:r>
          </a:p>
          <a:p>
            <a:pPr algn="l" latinLnBrk="1">
              <a:buNone/>
            </a:pPr>
            <a:endParaRPr lang="en-US" sz="1800" b="0" i="0" dirty="0">
              <a:effectLst/>
              <a:latin typeface="Times New Roman" panose="02020603050405020304" pitchFamily="18" charset="0"/>
              <a:cs typeface="Times New Roman" panose="02020603050405020304" pitchFamily="18" charset="0"/>
            </a:endParaRP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H0 (Null): There is no significant difference in the average price between Petrol and Diesel cars. (</a:t>
            </a:r>
            <a:r>
              <a:rPr lang="en-US" sz="1800" b="0" i="0" dirty="0" err="1">
                <a:effectLst/>
                <a:latin typeface="Times New Roman" panose="02020603050405020304" pitchFamily="18" charset="0"/>
                <a:cs typeface="Times New Roman" panose="02020603050405020304" pitchFamily="18" charset="0"/>
              </a:rPr>
              <a:t>μ_petrol</a:t>
            </a:r>
            <a:r>
              <a:rPr lang="en-US" sz="1800" b="0" i="0" dirty="0">
                <a:effectLst/>
                <a:latin typeface="Times New Roman" panose="02020603050405020304" pitchFamily="18" charset="0"/>
                <a:cs typeface="Times New Roman" panose="02020603050405020304" pitchFamily="18" charset="0"/>
              </a:rPr>
              <a:t> = </a:t>
            </a:r>
            <a:r>
              <a:rPr lang="en-US" sz="1800" b="0" i="0" dirty="0" err="1">
                <a:effectLst/>
                <a:latin typeface="Times New Roman" panose="02020603050405020304" pitchFamily="18" charset="0"/>
                <a:cs typeface="Times New Roman" panose="02020603050405020304" pitchFamily="18" charset="0"/>
              </a:rPr>
              <a:t>μ_diesel</a:t>
            </a:r>
            <a:r>
              <a:rPr lang="en-US" sz="1800" b="0" i="0" dirty="0">
                <a:effectLst/>
                <a:latin typeface="Times New Roman" panose="02020603050405020304" pitchFamily="18" charset="0"/>
                <a:cs typeface="Times New Roman" panose="02020603050405020304" pitchFamily="18" charset="0"/>
              </a:rPr>
              <a:t>)</a:t>
            </a: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H1 (Alternate): Theoretical: There is a significant difference in the average price between Petrol and Diesel cars. (</a:t>
            </a:r>
            <a:r>
              <a:rPr lang="en-US" sz="1800" b="0" i="0" dirty="0" err="1">
                <a:effectLst/>
                <a:latin typeface="Times New Roman" panose="02020603050405020304" pitchFamily="18" charset="0"/>
                <a:cs typeface="Times New Roman" panose="02020603050405020304" pitchFamily="18" charset="0"/>
              </a:rPr>
              <a:t>μ_petrol</a:t>
            </a:r>
            <a:r>
              <a:rPr lang="en-US" sz="1800" b="0" i="0" dirty="0">
                <a:effectLst/>
                <a:latin typeface="Times New Roman" panose="02020603050405020304" pitchFamily="18" charset="0"/>
                <a:cs typeface="Times New Roman" panose="02020603050405020304" pitchFamily="18" charset="0"/>
              </a:rPr>
              <a:t> ≠ </a:t>
            </a:r>
            <a:r>
              <a:rPr lang="en-US" sz="1800" b="0" i="0" dirty="0" err="1">
                <a:effectLst/>
                <a:latin typeface="Times New Roman" panose="02020603050405020304" pitchFamily="18" charset="0"/>
                <a:cs typeface="Times New Roman" panose="02020603050405020304" pitchFamily="18" charset="0"/>
              </a:rPr>
              <a:t>μ_diesel</a:t>
            </a:r>
            <a:r>
              <a:rPr lang="en-US" sz="1800" b="0" i="0" dirty="0">
                <a:effectLst/>
                <a:latin typeface="Times New Roman" panose="02020603050405020304" pitchFamily="18" charset="0"/>
                <a:cs typeface="Times New Roman" panose="02020603050405020304" pitchFamily="18" charset="0"/>
              </a:rPr>
              <a:t>)</a:t>
            </a:r>
          </a:p>
          <a:p>
            <a:pPr marL="285750" indent="-285750" algn="l" latinLnBrk="1">
              <a:buFont typeface="Arial" panose="020B0604020202020204" pitchFamily="34" charset="0"/>
              <a:buChar char="•"/>
            </a:pPr>
            <a:endParaRPr lang="en-US" sz="1800" b="0" i="0" dirty="0">
              <a:effectLst/>
              <a:latin typeface="Times New Roman" panose="02020603050405020304" pitchFamily="18" charset="0"/>
              <a:cs typeface="Times New Roman" panose="02020603050405020304" pitchFamily="18" charset="0"/>
            </a:endParaRP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Since both sample sizes are &gt;= 30 (n1=4432, n2=1180), we select the **Two-Sample Z-Test**.</a:t>
            </a:r>
          </a:p>
          <a:p>
            <a:pPr marL="285750" indent="-285750" algn="l" latinLnBrk="1">
              <a:buFont typeface="Arial" panose="020B0604020202020204" pitchFamily="34" charset="0"/>
              <a:buChar char="•"/>
            </a:pPr>
            <a:endParaRPr lang="en-US" sz="1800" b="0" i="0" dirty="0">
              <a:effectLst/>
              <a:latin typeface="Times New Roman" panose="02020603050405020304" pitchFamily="18" charset="0"/>
              <a:cs typeface="Times New Roman" panose="02020603050405020304" pitchFamily="18" charset="0"/>
            </a:endParaRP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P-Value: 1.9924767133445852e-26</a:t>
            </a: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Decision: **Reject H0**.</a:t>
            </a:r>
          </a:p>
          <a:p>
            <a:pPr marL="285750" indent="-285750" algn="l" latinLnBrk="1">
              <a:buFont typeface="Arial" panose="020B0604020202020204" pitchFamily="34" charset="0"/>
              <a:buChar char="•"/>
            </a:pPr>
            <a:endParaRPr lang="en-US" sz="1800" b="0" i="0" dirty="0">
              <a:effectLst/>
              <a:latin typeface="Times New Roman" panose="02020603050405020304" pitchFamily="18" charset="0"/>
              <a:cs typeface="Times New Roman" panose="02020603050405020304" pitchFamily="18" charset="0"/>
            </a:endParaRP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Strength: Very Strong evidence against the Null Hypothesis.</a:t>
            </a: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The analysis confirms that Diesel cars are priced significantly higher than Petrol cars.</a:t>
            </a:r>
          </a:p>
        </p:txBody>
      </p:sp>
    </p:spTree>
    <p:extLst>
      <p:ext uri="{BB962C8B-B14F-4D97-AF65-F5344CB8AC3E}">
        <p14:creationId xmlns:p14="http://schemas.microsoft.com/office/powerpoint/2010/main" val="3237181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FA3D6C-8F54-5BC4-7FC8-F96E85884BF6}"/>
              </a:ext>
            </a:extLst>
          </p:cNvPr>
          <p:cNvSpPr txBox="1"/>
          <p:nvPr/>
        </p:nvSpPr>
        <p:spPr>
          <a:xfrm>
            <a:off x="936171" y="719636"/>
            <a:ext cx="10319658" cy="5724644"/>
          </a:xfrm>
          <a:prstGeom prst="rect">
            <a:avLst/>
          </a:prstGeom>
          <a:noFill/>
        </p:spPr>
        <p:txBody>
          <a:bodyPr wrap="square">
            <a:spAutoFit/>
          </a:bodyPr>
          <a:lstStyle/>
          <a:p>
            <a:pPr algn="l" latinLnBrk="1">
              <a:buNone/>
            </a:pPr>
            <a:r>
              <a:rPr lang="en-US" sz="1800" b="1" i="0" dirty="0">
                <a:effectLst/>
                <a:latin typeface="Times New Roman" panose="02020603050405020304" pitchFamily="18" charset="0"/>
                <a:cs typeface="Times New Roman" panose="02020603050405020304" pitchFamily="18" charset="0"/>
              </a:rPr>
              <a:t>Is there a significant correlation between KM Driven and Price?</a:t>
            </a:r>
          </a:p>
          <a:p>
            <a:pPr algn="l" latinLnBrk="1">
              <a:buNone/>
            </a:pPr>
            <a:endParaRPr lang="en-US" b="0" i="0" dirty="0">
              <a:effectLst/>
              <a:latin typeface="menlo"/>
            </a:endParaRPr>
          </a:p>
          <a:p>
            <a:pPr algn="l" latinLnBrk="1">
              <a:buNone/>
            </a:pPr>
            <a:r>
              <a:rPr lang="en-US" sz="1800" b="0" i="0" dirty="0">
                <a:effectLst/>
                <a:latin typeface="Times New Roman" panose="02020603050405020304" pitchFamily="18" charset="0"/>
                <a:cs typeface="Times New Roman" panose="02020603050405020304" pitchFamily="18" charset="0"/>
              </a:rPr>
              <a:t>Data Points: n=5223</a:t>
            </a:r>
          </a:p>
          <a:p>
            <a:pPr algn="l" latinLnBrk="1">
              <a:buNone/>
            </a:pPr>
            <a:r>
              <a:rPr lang="en-US" sz="1800" b="0" i="0" dirty="0">
                <a:effectLst/>
                <a:latin typeface="Times New Roman" panose="02020603050405020304" pitchFamily="18" charset="0"/>
                <a:cs typeface="Times New Roman" panose="02020603050405020304" pitchFamily="18" charset="0"/>
              </a:rPr>
              <a:t>Variable 1: KM Driven</a:t>
            </a:r>
          </a:p>
          <a:p>
            <a:pPr algn="l" latinLnBrk="1">
              <a:buNone/>
            </a:pPr>
            <a:r>
              <a:rPr lang="en-US" sz="1800" b="0" i="0" dirty="0">
                <a:effectLst/>
                <a:latin typeface="Times New Roman" panose="02020603050405020304" pitchFamily="18" charset="0"/>
                <a:cs typeface="Times New Roman" panose="02020603050405020304" pitchFamily="18" charset="0"/>
              </a:rPr>
              <a:t>Variable 2: Price</a:t>
            </a:r>
          </a:p>
          <a:p>
            <a:pPr algn="l" latinLnBrk="1">
              <a:buNone/>
            </a:pPr>
            <a:endParaRPr lang="en-US" sz="1800" b="0" i="0" dirty="0">
              <a:effectLst/>
              <a:latin typeface="Times New Roman" panose="02020603050405020304" pitchFamily="18" charset="0"/>
              <a:cs typeface="Times New Roman" panose="02020603050405020304" pitchFamily="18" charset="0"/>
            </a:endParaRPr>
          </a:p>
          <a:p>
            <a:pPr algn="l" latinLnBrk="1">
              <a:buNone/>
            </a:pPr>
            <a:r>
              <a:rPr lang="en-US" sz="1800" b="0" i="0" dirty="0">
                <a:effectLst/>
                <a:latin typeface="Times New Roman" panose="02020603050405020304" pitchFamily="18" charset="0"/>
                <a:cs typeface="Times New Roman" panose="02020603050405020304" pitchFamily="18" charset="0"/>
              </a:rPr>
              <a:t>H0 (Null): There is no correlation between KM Driven and Price. (Correlation Coefficient r = 0)</a:t>
            </a:r>
          </a:p>
          <a:p>
            <a:pPr algn="l" latinLnBrk="1">
              <a:buNone/>
            </a:pPr>
            <a:r>
              <a:rPr lang="en-US" sz="1800" b="0" i="0" dirty="0">
                <a:effectLst/>
                <a:latin typeface="Times New Roman" panose="02020603050405020304" pitchFamily="18" charset="0"/>
                <a:cs typeface="Times New Roman" panose="02020603050405020304" pitchFamily="18" charset="0"/>
              </a:rPr>
              <a:t>H1 (Alternate): There is a significant correlation between KM Driven and Price. (r ≠ 0)</a:t>
            </a:r>
          </a:p>
          <a:p>
            <a:pPr algn="l" latinLnBrk="1">
              <a:buNone/>
            </a:pPr>
            <a:endParaRPr lang="en-US" sz="1800" b="0" i="0" dirty="0">
              <a:effectLst/>
              <a:latin typeface="Times New Roman" panose="02020603050405020304" pitchFamily="18" charset="0"/>
              <a:cs typeface="Times New Roman" panose="02020603050405020304" pitchFamily="18" charset="0"/>
            </a:endParaRPr>
          </a:p>
          <a:p>
            <a:pPr algn="l" latinLnBrk="1">
              <a:buNone/>
            </a:pPr>
            <a:r>
              <a:rPr lang="en-US" sz="1800" b="0" i="0" dirty="0">
                <a:effectLst/>
                <a:latin typeface="Times New Roman" panose="02020603050405020304" pitchFamily="18" charset="0"/>
                <a:cs typeface="Times New Roman" panose="02020603050405020304" pitchFamily="18" charset="0"/>
              </a:rPr>
              <a:t>Since we are checking the linear relationship between two continuous variables (KM and Price), we select the **Pearson Correlation Test**.</a:t>
            </a:r>
          </a:p>
          <a:p>
            <a:pPr algn="l" latinLnBrk="1">
              <a:buNone/>
            </a:pPr>
            <a:endParaRPr lang="en-US" sz="1800" b="0" i="0" dirty="0">
              <a:effectLst/>
              <a:latin typeface="Times New Roman" panose="02020603050405020304" pitchFamily="18" charset="0"/>
              <a:cs typeface="Times New Roman" panose="02020603050405020304" pitchFamily="18" charset="0"/>
            </a:endParaRPr>
          </a:p>
          <a:p>
            <a:pPr algn="l" latinLnBrk="1">
              <a:buNone/>
            </a:pPr>
            <a:r>
              <a:rPr lang="en-US" sz="1800" b="0" i="0" dirty="0">
                <a:effectLst/>
                <a:latin typeface="Times New Roman" panose="02020603050405020304" pitchFamily="18" charset="0"/>
                <a:cs typeface="Times New Roman" panose="02020603050405020304" pitchFamily="18" charset="0"/>
              </a:rPr>
              <a:t>P-Value: 0.008362189233446213</a:t>
            </a:r>
          </a:p>
          <a:p>
            <a:pPr algn="l" latinLnBrk="1">
              <a:buNone/>
            </a:pPr>
            <a:r>
              <a:rPr lang="en-US" sz="1800" b="0" i="0" dirty="0">
                <a:effectLst/>
                <a:latin typeface="Times New Roman" panose="02020603050405020304" pitchFamily="18" charset="0"/>
                <a:cs typeface="Times New Roman" panose="02020603050405020304" pitchFamily="18" charset="0"/>
              </a:rPr>
              <a:t>Correlation Coefficient: -0.0345</a:t>
            </a:r>
          </a:p>
          <a:p>
            <a:pPr algn="l" latinLnBrk="1">
              <a:buNone/>
            </a:pPr>
            <a:r>
              <a:rPr lang="en-US" sz="1800" b="0" i="0" dirty="0">
                <a:effectLst/>
                <a:latin typeface="Times New Roman" panose="02020603050405020304" pitchFamily="18" charset="0"/>
                <a:cs typeface="Times New Roman" panose="02020603050405020304" pitchFamily="18" charset="0"/>
              </a:rPr>
              <a:t>Decision: **Reject H0**.</a:t>
            </a:r>
          </a:p>
          <a:p>
            <a:pPr algn="l" latinLnBrk="1">
              <a:buNone/>
            </a:pPr>
            <a:r>
              <a:rPr lang="en-US" sz="1800" b="0" i="0" dirty="0">
                <a:effectLst/>
                <a:latin typeface="Times New Roman" panose="02020603050405020304" pitchFamily="18" charset="0"/>
                <a:cs typeface="Times New Roman" panose="02020603050405020304" pitchFamily="18" charset="0"/>
              </a:rPr>
              <a:t>Strength: Strong evidence against the Null Hypothesis.</a:t>
            </a:r>
          </a:p>
          <a:p>
            <a:pPr algn="l" latinLnBrk="1">
              <a:buNone/>
            </a:pPr>
            <a:endParaRPr lang="en-US" sz="1800" b="0" i="0" dirty="0">
              <a:effectLst/>
              <a:latin typeface="Times New Roman" panose="02020603050405020304" pitchFamily="18" charset="0"/>
              <a:cs typeface="Times New Roman" panose="02020603050405020304" pitchFamily="18" charset="0"/>
            </a:endParaRPr>
          </a:p>
          <a:p>
            <a:pPr algn="l" latinLnBrk="1">
              <a:buNone/>
            </a:pPr>
            <a:r>
              <a:rPr lang="en-US" sz="1800" b="0" i="0" dirty="0">
                <a:effectLst/>
                <a:latin typeface="Times New Roman" panose="02020603050405020304" pitchFamily="18" charset="0"/>
                <a:cs typeface="Times New Roman" panose="02020603050405020304" pitchFamily="18" charset="0"/>
              </a:rPr>
              <a:t>The analysis confirms a **Negative Correlation**.</a:t>
            </a:r>
          </a:p>
          <a:p>
            <a:pPr algn="l" latinLnBrk="1">
              <a:buNone/>
            </a:pPr>
            <a:r>
              <a:rPr lang="en-US" sz="1800" b="0" i="0" dirty="0">
                <a:effectLst/>
                <a:latin typeface="Times New Roman" panose="02020603050405020304" pitchFamily="18" charset="0"/>
                <a:cs typeface="Times New Roman" panose="02020603050405020304" pitchFamily="18" charset="0"/>
              </a:rPr>
              <a:t>Insight: As the Kilometers Driven increases, the Price significantly decreases. (Higher usage = Lower Value)</a:t>
            </a:r>
          </a:p>
          <a:p>
            <a:pPr>
              <a:buNone/>
            </a:pPr>
            <a:br>
              <a:rPr lang="en-US" dirty="0"/>
            </a:br>
            <a:endParaRPr lang="en-IN" dirty="0"/>
          </a:p>
        </p:txBody>
      </p:sp>
    </p:spTree>
    <p:extLst>
      <p:ext uri="{BB962C8B-B14F-4D97-AF65-F5344CB8AC3E}">
        <p14:creationId xmlns:p14="http://schemas.microsoft.com/office/powerpoint/2010/main" val="3556066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DCF343-5A18-40B8-4F0D-FCF1AD98436D}"/>
              </a:ext>
            </a:extLst>
          </p:cNvPr>
          <p:cNvSpPr txBox="1"/>
          <p:nvPr/>
        </p:nvSpPr>
        <p:spPr>
          <a:xfrm>
            <a:off x="1045027" y="643622"/>
            <a:ext cx="9787095" cy="5570756"/>
          </a:xfrm>
          <a:prstGeom prst="rect">
            <a:avLst/>
          </a:prstGeom>
          <a:noFill/>
        </p:spPr>
        <p:txBody>
          <a:bodyPr wrap="square">
            <a:spAutoFit/>
          </a:bodyPr>
          <a:lstStyle/>
          <a:p>
            <a:pPr algn="l" latinLnBrk="1">
              <a:buNone/>
            </a:pPr>
            <a:r>
              <a:rPr lang="en-US" sz="1800" b="1" i="0" dirty="0">
                <a:effectLst/>
                <a:latin typeface="Times New Roman" panose="02020603050405020304" pitchFamily="18" charset="0"/>
                <a:cs typeface="Times New Roman" panose="02020603050405020304" pitchFamily="18" charset="0"/>
              </a:rPr>
              <a:t>Is the choice of Transmission dependent on Fuel Type?</a:t>
            </a:r>
          </a:p>
          <a:p>
            <a:pPr algn="l" latinLnBrk="1">
              <a:buNone/>
            </a:pPr>
            <a:endParaRPr lang="en-US" b="0" i="0" dirty="0">
              <a:effectLst/>
              <a:latin typeface="menlo"/>
            </a:endParaRP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Data Points: n=5288</a:t>
            </a: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Variable 1: Fuel Type (Categorical)</a:t>
            </a: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Variable 2: Transmission (Categorical)</a:t>
            </a:r>
          </a:p>
          <a:p>
            <a:pPr marL="285750" indent="-285750" algn="l" latinLnBrk="1">
              <a:buFont typeface="Arial" panose="020B0604020202020204" pitchFamily="34" charset="0"/>
              <a:buChar char="•"/>
            </a:pPr>
            <a:endParaRPr lang="en-US" sz="1800" b="0" i="0" dirty="0">
              <a:effectLst/>
              <a:latin typeface="Times New Roman" panose="02020603050405020304" pitchFamily="18" charset="0"/>
              <a:cs typeface="Times New Roman" panose="02020603050405020304" pitchFamily="18" charset="0"/>
            </a:endParaRP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H0 (Null): Fuel Type and Transmission are independent. (No relationship)</a:t>
            </a: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H1 (Alternate): Fuel Type and Transmission are dependent. (Significant relationship)</a:t>
            </a:r>
          </a:p>
          <a:p>
            <a:pPr marL="285750" indent="-285750" algn="l" latinLnBrk="1">
              <a:buFont typeface="Arial" panose="020B0604020202020204" pitchFamily="34" charset="0"/>
              <a:buChar char="•"/>
            </a:pPr>
            <a:endParaRPr lang="en-US" sz="1800" b="0" i="0" dirty="0">
              <a:effectLst/>
              <a:latin typeface="Times New Roman" panose="02020603050405020304" pitchFamily="18" charset="0"/>
              <a:cs typeface="Times New Roman" panose="02020603050405020304" pitchFamily="18" charset="0"/>
            </a:endParaRP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Since we are checking the relationship between two categorical variables, we select the **Chi-Square Test of Independence**.</a:t>
            </a:r>
          </a:p>
          <a:p>
            <a:pPr marL="285750" indent="-285750" algn="l" latinLnBrk="1">
              <a:buFont typeface="Arial" panose="020B0604020202020204" pitchFamily="34" charset="0"/>
              <a:buChar char="•"/>
            </a:pPr>
            <a:endParaRPr lang="en-US" sz="1800" b="0" i="0" dirty="0">
              <a:effectLst/>
              <a:latin typeface="Times New Roman" panose="02020603050405020304" pitchFamily="18" charset="0"/>
              <a:cs typeface="Times New Roman" panose="02020603050405020304" pitchFamily="18" charset="0"/>
            </a:endParaRP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P-Value: 1.32886302607935e-14</a:t>
            </a: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Chi-Square Statistic: 67.6961</a:t>
            </a: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Degrees of Freedom: 3</a:t>
            </a: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Decision: **Reject H0**.</a:t>
            </a: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Strength: Very Strong evidence against the Null Hypothesis.</a:t>
            </a:r>
          </a:p>
          <a:p>
            <a:pPr marL="285750" indent="-285750" algn="l" latinLnBrk="1">
              <a:buFont typeface="Arial" panose="020B0604020202020204" pitchFamily="34" charset="0"/>
              <a:buChar char="•"/>
            </a:pPr>
            <a:endParaRPr lang="en-US" sz="1800" b="0" i="0" dirty="0">
              <a:effectLst/>
              <a:latin typeface="Times New Roman" panose="02020603050405020304" pitchFamily="18" charset="0"/>
              <a:cs typeface="Times New Roman" panose="02020603050405020304" pitchFamily="18" charset="0"/>
            </a:endParaRPr>
          </a:p>
          <a:p>
            <a:pPr marL="285750" indent="-285750" algn="l" latinLnBrk="1">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Insight: The choice of transmission is NOT random. Certain fuel types (e.g., Diesel vs Petrol) are statistically more likely to be paired with specific transmission types (Auto vs Manual).</a:t>
            </a:r>
          </a:p>
        </p:txBody>
      </p:sp>
    </p:spTree>
    <p:extLst>
      <p:ext uri="{BB962C8B-B14F-4D97-AF65-F5344CB8AC3E}">
        <p14:creationId xmlns:p14="http://schemas.microsoft.com/office/powerpoint/2010/main" val="27190323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5B2320-2352-9472-D922-C44C276CD21C}"/>
              </a:ext>
            </a:extLst>
          </p:cNvPr>
          <p:cNvSpPr>
            <a:spLocks noChangeArrowheads="1"/>
          </p:cNvSpPr>
          <p:nvPr/>
        </p:nvSpPr>
        <p:spPr bwMode="auto">
          <a:xfrm>
            <a:off x="1155979" y="880075"/>
            <a:ext cx="10178562"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the Registration Location significantly affect the Car Price?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Points: n=3110 (Subset of Top 5 Locations)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Variable 1: Registration Location (Categorical - Top 5)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Variable 2: Price (Continuous) Groups Compared: ['MH', 'HR', 'DL', 'UP', 'TN’]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H0 (Null): The mean price is the same across all selected locations.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H1 (Alternate): At least one location has a significantly different mean price.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Since we are comparing the means of a numerical variable (Price) across more than two categorical groups (Locations), we select the **One-Way ANOVA Test**.</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P-Value: 9.812690524055399e-16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F-Statistic: 19.3445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**Reject H0**.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Strength: Very Strong evidence against the Null Hypothesis.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Insight: Location matters. The state where a car is registered has a statistically significant impact on its resale price (likely due to tax/regulatory differences).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79011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3B965-6C19-B9B7-09A9-9AF3DBCABF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1CCA9A-8C47-9A6B-C908-5A9430B897CB}"/>
              </a:ext>
            </a:extLst>
          </p:cNvPr>
          <p:cNvSpPr txBox="1"/>
          <p:nvPr/>
        </p:nvSpPr>
        <p:spPr>
          <a:xfrm>
            <a:off x="442127" y="291402"/>
            <a:ext cx="1146182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Recommendations</a:t>
            </a:r>
          </a:p>
        </p:txBody>
      </p:sp>
      <p:sp>
        <p:nvSpPr>
          <p:cNvPr id="3" name="Rectangle 1">
            <a:extLst>
              <a:ext uri="{FF2B5EF4-FFF2-40B4-BE49-F238E27FC236}">
                <a16:creationId xmlns:a16="http://schemas.microsoft.com/office/drawing/2014/main" id="{A29E0D3E-8ADF-C5E0-5AB7-CC515F87CB4B}"/>
              </a:ext>
            </a:extLst>
          </p:cNvPr>
          <p:cNvSpPr>
            <a:spLocks noChangeArrowheads="1"/>
          </p:cNvSpPr>
          <p:nvPr/>
        </p:nvSpPr>
        <p:spPr bwMode="auto">
          <a:xfrm>
            <a:off x="723481" y="1097538"/>
            <a:ext cx="963637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Target the "Sweet Spot":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Prioritize vehicles from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2018–2020</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era; they offer the best balance of modern safety features and avoided "new-car" depreciation.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Brand Selection: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Choose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Maruti or Hyundai</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the lowest maintenance and easiest resale, but look toward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Toyota or Mahindra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long-term value retention is the priority.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Automatic Advantage: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While Automatic variants carry a ₹1.5L–₹2L premium, their rising demand makes them a smarter long-term investment for urban resale.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Fuel Efficiency: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high-mileage drivers, CNG variants from top brands are highly recommended as they hold their resale value remarkably well due to low running costs.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Strict Quality Caps: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Never exceed the 1.2L–1.5L KM mileage threshold, as the subsequent maintenance "cliff" typically negates any upfront savings on the purchase price.</a:t>
            </a:r>
          </a:p>
        </p:txBody>
      </p:sp>
    </p:spTree>
    <p:extLst>
      <p:ext uri="{BB962C8B-B14F-4D97-AF65-F5344CB8AC3E}">
        <p14:creationId xmlns:p14="http://schemas.microsoft.com/office/powerpoint/2010/main" val="3171771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F41C6-B900-402F-3D3D-C497ECDAFF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CE37F0-5C34-A060-38AA-A6E89CCEB060}"/>
              </a:ext>
            </a:extLst>
          </p:cNvPr>
          <p:cNvSpPr txBox="1"/>
          <p:nvPr/>
        </p:nvSpPr>
        <p:spPr>
          <a:xfrm>
            <a:off x="365089" y="104092"/>
            <a:ext cx="1146182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Challenges</a:t>
            </a:r>
          </a:p>
        </p:txBody>
      </p:sp>
      <p:sp>
        <p:nvSpPr>
          <p:cNvPr id="3" name="Rectangle 1">
            <a:extLst>
              <a:ext uri="{FF2B5EF4-FFF2-40B4-BE49-F238E27FC236}">
                <a16:creationId xmlns:a16="http://schemas.microsoft.com/office/drawing/2014/main" id="{8598A87F-5816-303D-7A69-E34AA398EB31}"/>
              </a:ext>
            </a:extLst>
          </p:cNvPr>
          <p:cNvSpPr>
            <a:spLocks noChangeArrowheads="1"/>
          </p:cNvSpPr>
          <p:nvPr/>
        </p:nvSpPr>
        <p:spPr bwMode="auto">
          <a:xfrm>
            <a:off x="705058" y="939225"/>
            <a:ext cx="10781881" cy="392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Scraping Dynamic Content: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CARS24 uses "Infinite Scrolling" and lazy-loading, requiring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Selenium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simulate human interactions and capture the full car list.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Inconsistency: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Raw data was highly unstructured; the "Car" column bundled Year, Brand, and Model, requiring complex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Regular Expressions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RegEx</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parse into usable features.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Domain-Specific Data Gaps: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Handling missing registration data required domain knowledge to identify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Bharat (BH) series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the dataset accurately represented current Indian RTO trends.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 Optimization: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Standardizing wide data ranges required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Medians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prevent luxury outliers from skewing trends and implementing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consistent color-coding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effective storytelling.</a:t>
            </a:r>
          </a:p>
        </p:txBody>
      </p:sp>
    </p:spTree>
    <p:extLst>
      <p:ext uri="{BB962C8B-B14F-4D97-AF65-F5344CB8AC3E}">
        <p14:creationId xmlns:p14="http://schemas.microsoft.com/office/powerpoint/2010/main" val="2175852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26DB8-C014-A409-0314-47ECB37007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315484-73A9-E8BD-9589-1DDDC9A3CD91}"/>
              </a:ext>
            </a:extLst>
          </p:cNvPr>
          <p:cNvSpPr txBox="1"/>
          <p:nvPr/>
        </p:nvSpPr>
        <p:spPr>
          <a:xfrm>
            <a:off x="365089" y="260946"/>
            <a:ext cx="11461820" cy="584775"/>
          </a:xfrm>
          <a:prstGeom prst="rect">
            <a:avLst/>
          </a:prstGeom>
          <a:noFill/>
        </p:spPr>
        <p:txBody>
          <a:bodyPr wrap="square" rtlCol="0">
            <a:spAutoFit/>
          </a:bodyPr>
          <a:lstStyle/>
          <a:p>
            <a:r>
              <a:rPr lang="en-IN" sz="3200" dirty="0">
                <a:solidFill>
                  <a:srgbClr val="FF0000"/>
                </a:solidFill>
                <a:latin typeface="Times New Roman" panose="02020603050405020304" pitchFamily="18" charset="0"/>
                <a:cs typeface="Times New Roman" panose="02020603050405020304" pitchFamily="18" charset="0"/>
              </a:rPr>
              <a:t>Conclusion</a:t>
            </a:r>
          </a:p>
        </p:txBody>
      </p:sp>
      <p:sp>
        <p:nvSpPr>
          <p:cNvPr id="4" name="Rectangle 2">
            <a:extLst>
              <a:ext uri="{FF2B5EF4-FFF2-40B4-BE49-F238E27FC236}">
                <a16:creationId xmlns:a16="http://schemas.microsoft.com/office/drawing/2014/main" id="{CAD9F9D6-8EC1-3B92-885F-93FDD505E3E0}"/>
              </a:ext>
            </a:extLst>
          </p:cNvPr>
          <p:cNvSpPr>
            <a:spLocks noChangeArrowheads="1"/>
          </p:cNvSpPr>
          <p:nvPr/>
        </p:nvSpPr>
        <p:spPr bwMode="auto">
          <a:xfrm>
            <a:off x="956267" y="1156110"/>
            <a:ext cx="10279463" cy="4224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Data-Driven Transparency:</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Successfully standardized 5,800+ unstructured listings, replacing market intuition with empirical benchmarks for the Indian middle class.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9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Strategic Market Filtering:</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Isolated high-utility vehicles by applying a </a:t>
            </a: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₹10 Lakh price cap</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1.6L KM mileage limit</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effectively removing luxury outliers and high-risk "scrap yard" entries.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9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Primary Price Drivers:</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Identified </a:t>
            </a: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Year of Manufacture</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Transmission Type</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as the strongest predictors of value, reflecting a significant "Automatic Premium" in urban markets.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9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Optimal Value "Sweet Spot":</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Established that cars aged </a:t>
            </a:r>
            <a:r>
              <a:rPr kumimoji="0" lang="en-US" altLang="en-US" sz="1800" b="1"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4 to 6 years (2018–2020)</a:t>
            </a:r>
            <a:r>
              <a:rPr kumimoji="0" lang="en-US" altLang="en-US" sz="18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provide the ideal balance between modern features and minimized depreciation for budget-conscious buyers.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0311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331596" y="3057490"/>
            <a:ext cx="4682531" cy="227818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p>
          <a:p>
            <a:pPr marL="0" marR="0" lvl="0" indent="0" algn="ctr" rtl="0">
              <a:lnSpc>
                <a:spcPct val="100000"/>
              </a:lnSpc>
              <a:spcBef>
                <a:spcPts val="0"/>
              </a:spcBef>
              <a:spcAft>
                <a:spcPts val="0"/>
              </a:spcAft>
              <a:buClr>
                <a:srgbClr val="C00000"/>
              </a:buClr>
              <a:buSzPts val="4400"/>
              <a:buFont typeface="Libre Baskerville"/>
              <a:buNone/>
            </a:pPr>
            <a:r>
              <a:rPr lang="en-IN" sz="4400" dirty="0">
                <a:solidFill>
                  <a:srgbClr val="C00000"/>
                </a:solidFill>
                <a:latin typeface="Libre Baskerville"/>
                <a:ea typeface="Calibri"/>
                <a:cs typeface="Calibri"/>
                <a:sym typeface="Libre Baskerville"/>
              </a:rPr>
              <a:t>&amp;</a:t>
            </a:r>
          </a:p>
          <a:p>
            <a:pPr marL="0" marR="0" lvl="0" indent="0" rtl="0">
              <a:lnSpc>
                <a:spcPct val="100000"/>
              </a:lnSpc>
              <a:spcBef>
                <a:spcPts val="0"/>
              </a:spcBef>
              <a:spcAft>
                <a:spcPts val="0"/>
              </a:spcAft>
              <a:buClr>
                <a:srgbClr val="C00000"/>
              </a:buClr>
              <a:buSzPts val="4400"/>
              <a:buFont typeface="Libre Baskerville"/>
              <a:buNone/>
            </a:pPr>
            <a:r>
              <a:rPr lang="en-IN" sz="4400" i="0" strike="noStrike" cap="none" dirty="0">
                <a:solidFill>
                  <a:srgbClr val="C00000"/>
                </a:solidFill>
                <a:latin typeface="Libre Baskerville"/>
                <a:ea typeface="Calibri"/>
                <a:cs typeface="Calibri"/>
                <a:sym typeface="Libre Baskerville"/>
              </a:rPr>
              <a:t>ANY QUIRES</a:t>
            </a:r>
            <a:r>
              <a:rPr lang="en-IN" sz="4400" b="0" i="0" u="none" strike="noStrike" cap="none" dirty="0">
                <a:solidFill>
                  <a:srgbClr val="C00000"/>
                </a:solidFill>
                <a:latin typeface="Libre Baskerville"/>
                <a:ea typeface="Calibri"/>
                <a:cs typeface="Calibri"/>
                <a:sym typeface="Libre Baskerville"/>
              </a:rPr>
              <a:t>?</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1550</TotalTime>
  <Words>2501</Words>
  <Application>Microsoft Office PowerPoint</Application>
  <PresentationFormat>Widescreen</PresentationFormat>
  <Paragraphs>227</Paragraphs>
  <Slides>25</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Times New Roman</vt:lpstr>
      <vt:lpstr>menlo</vt:lpstr>
      <vt:lpstr>Google Sans Text</vt:lpstr>
      <vt:lpstr>system-ui</vt:lpstr>
      <vt:lpstr>Arial</vt:lpstr>
      <vt:lpstr>Lato Black</vt:lpstr>
      <vt:lpstr>Calibri</vt:lpstr>
      <vt:lpstr>Libre 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Leeladri Reddy G</cp:lastModifiedBy>
  <cp:revision>1</cp:revision>
  <dcterms:created xsi:type="dcterms:W3CDTF">2021-02-16T05:19:01Z</dcterms:created>
  <dcterms:modified xsi:type="dcterms:W3CDTF">2026-01-31T10:25:02Z</dcterms:modified>
</cp:coreProperties>
</file>